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4" r:id="rId2"/>
    <p:sldId id="256" r:id="rId3"/>
    <p:sldId id="257" r:id="rId4"/>
    <p:sldId id="258" r:id="rId5"/>
    <p:sldId id="260" r:id="rId6"/>
    <p:sldId id="259" r:id="rId7"/>
    <p:sldId id="261" r:id="rId8"/>
    <p:sldId id="262" r:id="rId9"/>
    <p:sldId id="263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673AE6-B0D4-41D7-88ED-523292AD92F0}" v="92" dt="2026-01-03T09:20:42.2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akala rishik" userId="b3826f7171cae952" providerId="LiveId" clId="{4A4B60B7-3468-4E54-BE6C-793E2E3E88C3}"/>
    <pc:docChg chg="undo custSel addSld modSld sldOrd">
      <pc:chgData name="palakala rishik" userId="b3826f7171cae952" providerId="LiveId" clId="{4A4B60B7-3468-4E54-BE6C-793E2E3E88C3}" dt="2026-01-06T13:48:06.538" v="925" actId="1036"/>
      <pc:docMkLst>
        <pc:docMk/>
      </pc:docMkLst>
      <pc:sldChg chg="addSp delSp modSp mod modTransition modAnim">
        <pc:chgData name="palakala rishik" userId="b3826f7171cae952" providerId="LiveId" clId="{4A4B60B7-3468-4E54-BE6C-793E2E3E88C3}" dt="2026-01-03T07:42:14.199" v="106" actId="21"/>
        <pc:sldMkLst>
          <pc:docMk/>
          <pc:sldMk cId="0" sldId="256"/>
        </pc:sldMkLst>
        <pc:spChg chg="mod modVis">
          <ac:chgData name="palakala rishik" userId="b3826f7171cae952" providerId="LiveId" clId="{4A4B60B7-3468-4E54-BE6C-793E2E3E88C3}" dt="2026-01-03T07:42:00.733" v="96" actId="14430"/>
          <ac:spMkLst>
            <pc:docMk/>
            <pc:sldMk cId="0" sldId="256"/>
            <ac:spMk id="13" creationId="{00000000-0000-0000-0000-000000000000}"/>
          </ac:spMkLst>
        </pc:spChg>
        <pc:picChg chg="add del mod">
          <ac:chgData name="palakala rishik" userId="b3826f7171cae952" providerId="LiveId" clId="{4A4B60B7-3468-4E54-BE6C-793E2E3E88C3}" dt="2026-01-03T07:42:02.377" v="100" actId="21"/>
          <ac:picMkLst>
            <pc:docMk/>
            <pc:sldMk cId="0" sldId="256"/>
            <ac:picMk id="3" creationId="{00000000-0000-0000-0000-000000000000}"/>
          </ac:picMkLst>
        </pc:picChg>
      </pc:sldChg>
      <pc:sldChg chg="modTransition">
        <pc:chgData name="palakala rishik" userId="b3826f7171cae952" providerId="LiveId" clId="{4A4B60B7-3468-4E54-BE6C-793E2E3E88C3}" dt="2026-01-03T07:27:54.563" v="25"/>
        <pc:sldMkLst>
          <pc:docMk/>
          <pc:sldMk cId="0" sldId="257"/>
        </pc:sldMkLst>
      </pc:sldChg>
      <pc:sldChg chg="modTransition">
        <pc:chgData name="palakala rishik" userId="b3826f7171cae952" providerId="LiveId" clId="{4A4B60B7-3468-4E54-BE6C-793E2E3E88C3}" dt="2026-01-03T07:27:56.945" v="26"/>
        <pc:sldMkLst>
          <pc:docMk/>
          <pc:sldMk cId="0" sldId="258"/>
        </pc:sldMkLst>
      </pc:sldChg>
      <pc:sldChg chg="addSp delSp modSp mod modTransition">
        <pc:chgData name="palakala rishik" userId="b3826f7171cae952" providerId="LiveId" clId="{4A4B60B7-3468-4E54-BE6C-793E2E3E88C3}" dt="2026-01-03T07:32:53.439" v="48" actId="1076"/>
        <pc:sldMkLst>
          <pc:docMk/>
          <pc:sldMk cId="0" sldId="259"/>
        </pc:sldMkLst>
        <pc:picChg chg="add mod">
          <ac:chgData name="palakala rishik" userId="b3826f7171cae952" providerId="LiveId" clId="{4A4B60B7-3468-4E54-BE6C-793E2E3E88C3}" dt="2026-01-03T07:32:53.439" v="48" actId="1076"/>
          <ac:picMkLst>
            <pc:docMk/>
            <pc:sldMk cId="0" sldId="259"/>
            <ac:picMk id="29" creationId="{38138F6F-E355-9453-0CE6-A5CE6B1E7042}"/>
          </ac:picMkLst>
        </pc:picChg>
      </pc:sldChg>
      <pc:sldChg chg="modSp mod ord modTransition">
        <pc:chgData name="palakala rishik" userId="b3826f7171cae952" providerId="LiveId" clId="{4A4B60B7-3468-4E54-BE6C-793E2E3E88C3}" dt="2026-01-05T13:14:53.128" v="857"/>
        <pc:sldMkLst>
          <pc:docMk/>
          <pc:sldMk cId="0" sldId="260"/>
        </pc:sldMkLst>
        <pc:spChg chg="mod">
          <ac:chgData name="palakala rishik" userId="b3826f7171cae952" providerId="LiveId" clId="{4A4B60B7-3468-4E54-BE6C-793E2E3E88C3}" dt="2026-01-03T07:43:51.830" v="119" actId="2057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palakala rishik" userId="b3826f7171cae952" providerId="LiveId" clId="{4A4B60B7-3468-4E54-BE6C-793E2E3E88C3}" dt="2026-01-03T07:43:59.789" v="121" actId="20577"/>
          <ac:spMkLst>
            <pc:docMk/>
            <pc:sldMk cId="0" sldId="260"/>
            <ac:spMk id="24" creationId="{00000000-0000-0000-0000-000000000000}"/>
          </ac:spMkLst>
        </pc:spChg>
        <pc:spChg chg="mod">
          <ac:chgData name="palakala rishik" userId="b3826f7171cae952" providerId="LiveId" clId="{4A4B60B7-3468-4E54-BE6C-793E2E3E88C3}" dt="2026-01-03T07:43:55.557" v="120" actId="20577"/>
          <ac:spMkLst>
            <pc:docMk/>
            <pc:sldMk cId="0" sldId="260"/>
            <ac:spMk id="26" creationId="{00000000-0000-0000-0000-000000000000}"/>
          </ac:spMkLst>
        </pc:spChg>
        <pc:spChg chg="mod">
          <ac:chgData name="palakala rishik" userId="b3826f7171cae952" providerId="LiveId" clId="{4A4B60B7-3468-4E54-BE6C-793E2E3E88C3}" dt="2026-01-03T07:45:46.803" v="129" actId="12"/>
          <ac:spMkLst>
            <pc:docMk/>
            <pc:sldMk cId="0" sldId="260"/>
            <ac:spMk id="28" creationId="{00000000-0000-0000-0000-000000000000}"/>
          </ac:spMkLst>
        </pc:spChg>
        <pc:spChg chg="mod">
          <ac:chgData name="palakala rishik" userId="b3826f7171cae952" providerId="LiveId" clId="{4A4B60B7-3468-4E54-BE6C-793E2E3E88C3}" dt="2026-01-03T07:45:41.258" v="128" actId="12"/>
          <ac:spMkLst>
            <pc:docMk/>
            <pc:sldMk cId="0" sldId="260"/>
            <ac:spMk id="30" creationId="{00000000-0000-0000-0000-000000000000}"/>
          </ac:spMkLst>
        </pc:spChg>
        <pc:spChg chg="mod">
          <ac:chgData name="palakala rishik" userId="b3826f7171cae952" providerId="LiveId" clId="{4A4B60B7-3468-4E54-BE6C-793E2E3E88C3}" dt="2026-01-05T13:13:58.661" v="849" actId="255"/>
          <ac:spMkLst>
            <pc:docMk/>
            <pc:sldMk cId="0" sldId="260"/>
            <ac:spMk id="32" creationId="{00000000-0000-0000-0000-000000000000}"/>
          </ac:spMkLst>
        </pc:spChg>
        <pc:spChg chg="mod">
          <ac:chgData name="palakala rishik" userId="b3826f7171cae952" providerId="LiveId" clId="{4A4B60B7-3468-4E54-BE6C-793E2E3E88C3}" dt="2026-01-05T13:13:16.333" v="828" actId="20577"/>
          <ac:spMkLst>
            <pc:docMk/>
            <pc:sldMk cId="0" sldId="260"/>
            <ac:spMk id="34" creationId="{00000000-0000-0000-0000-000000000000}"/>
          </ac:spMkLst>
        </pc:spChg>
        <pc:spChg chg="mod">
          <ac:chgData name="palakala rishik" userId="b3826f7171cae952" providerId="LiveId" clId="{4A4B60B7-3468-4E54-BE6C-793E2E3E88C3}" dt="2026-01-05T13:14:25.010" v="855" actId="14100"/>
          <ac:spMkLst>
            <pc:docMk/>
            <pc:sldMk cId="0" sldId="260"/>
            <ac:spMk id="36" creationId="{00000000-0000-0000-0000-000000000000}"/>
          </ac:spMkLst>
        </pc:spChg>
        <pc:picChg chg="mod">
          <ac:chgData name="palakala rishik" userId="b3826f7171cae952" providerId="LiveId" clId="{4A4B60B7-3468-4E54-BE6C-793E2E3E88C3}" dt="2026-01-03T07:35:12.213" v="51" actId="1036"/>
          <ac:picMkLst>
            <pc:docMk/>
            <pc:sldMk cId="0" sldId="260"/>
            <ac:picMk id="17" creationId="{00000000-0000-0000-0000-000000000000}"/>
          </ac:picMkLst>
        </pc:picChg>
      </pc:sldChg>
      <pc:sldChg chg="modSp mod modTransition">
        <pc:chgData name="palakala rishik" userId="b3826f7171cae952" providerId="LiveId" clId="{4A4B60B7-3468-4E54-BE6C-793E2E3E88C3}" dt="2026-01-05T13:16:54.200" v="892" actId="20577"/>
        <pc:sldMkLst>
          <pc:docMk/>
          <pc:sldMk cId="0" sldId="261"/>
        </pc:sldMkLst>
        <pc:spChg chg="mod">
          <ac:chgData name="palakala rishik" userId="b3826f7171cae952" providerId="LiveId" clId="{4A4B60B7-3468-4E54-BE6C-793E2E3E88C3}" dt="2026-01-05T13:16:54.200" v="892" actId="20577"/>
          <ac:spMkLst>
            <pc:docMk/>
            <pc:sldMk cId="0" sldId="261"/>
            <ac:spMk id="27" creationId="{00000000-0000-0000-0000-000000000000}"/>
          </ac:spMkLst>
        </pc:spChg>
      </pc:sldChg>
      <pc:sldChg chg="modTransition">
        <pc:chgData name="palakala rishik" userId="b3826f7171cae952" providerId="LiveId" clId="{4A4B60B7-3468-4E54-BE6C-793E2E3E88C3}" dt="2026-01-03T07:28:11.916" v="30"/>
        <pc:sldMkLst>
          <pc:docMk/>
          <pc:sldMk cId="0" sldId="262"/>
        </pc:sldMkLst>
      </pc:sldChg>
      <pc:sldChg chg="modSp mod modTransition">
        <pc:chgData name="palakala rishik" userId="b3826f7171cae952" providerId="LiveId" clId="{4A4B60B7-3468-4E54-BE6C-793E2E3E88C3}" dt="2026-01-03T07:47:02.777" v="132" actId="255"/>
        <pc:sldMkLst>
          <pc:docMk/>
          <pc:sldMk cId="0" sldId="263"/>
        </pc:sldMkLst>
        <pc:spChg chg="mod">
          <ac:chgData name="palakala rishik" userId="b3826f7171cae952" providerId="LiveId" clId="{4A4B60B7-3468-4E54-BE6C-793E2E3E88C3}" dt="2026-01-03T07:46:29.419" v="130" actId="255"/>
          <ac:spMkLst>
            <pc:docMk/>
            <pc:sldMk cId="0" sldId="263"/>
            <ac:spMk id="35" creationId="{00000000-0000-0000-0000-000000000000}"/>
          </ac:spMkLst>
        </pc:spChg>
        <pc:spChg chg="mod">
          <ac:chgData name="palakala rishik" userId="b3826f7171cae952" providerId="LiveId" clId="{4A4B60B7-3468-4E54-BE6C-793E2E3E88C3}" dt="2026-01-03T07:46:39.812" v="131" actId="255"/>
          <ac:spMkLst>
            <pc:docMk/>
            <pc:sldMk cId="0" sldId="263"/>
            <ac:spMk id="40" creationId="{00000000-0000-0000-0000-000000000000}"/>
          </ac:spMkLst>
        </pc:spChg>
        <pc:spChg chg="mod">
          <ac:chgData name="palakala rishik" userId="b3826f7171cae952" providerId="LiveId" clId="{4A4B60B7-3468-4E54-BE6C-793E2E3E88C3}" dt="2026-01-03T07:47:02.777" v="132" actId="255"/>
          <ac:spMkLst>
            <pc:docMk/>
            <pc:sldMk cId="0" sldId="263"/>
            <ac:spMk id="45" creationId="{00000000-0000-0000-0000-000000000000}"/>
          </ac:spMkLst>
        </pc:spChg>
      </pc:sldChg>
      <pc:sldChg chg="addSp delSp modSp new mod ord modTransition">
        <pc:chgData name="palakala rishik" userId="b3826f7171cae952" providerId="LiveId" clId="{4A4B60B7-3468-4E54-BE6C-793E2E3E88C3}" dt="2026-01-06T13:48:06.538" v="925" actId="1036"/>
        <pc:sldMkLst>
          <pc:docMk/>
          <pc:sldMk cId="1722927609" sldId="264"/>
        </pc:sldMkLst>
        <pc:spChg chg="add mod">
          <ac:chgData name="palakala rishik" userId="b3826f7171cae952" providerId="LiveId" clId="{4A4B60B7-3468-4E54-BE6C-793E2E3E88C3}" dt="2026-01-06T13:41:01.817" v="921" actId="20577"/>
          <ac:spMkLst>
            <pc:docMk/>
            <pc:sldMk cId="1722927609" sldId="264"/>
            <ac:spMk id="6" creationId="{7B9D1B7C-206F-1ADB-B640-73EB3A9A114A}"/>
          </ac:spMkLst>
        </pc:spChg>
        <pc:spChg chg="add mod">
          <ac:chgData name="palakala rishik" userId="b3826f7171cae952" providerId="LiveId" clId="{4A4B60B7-3468-4E54-BE6C-793E2E3E88C3}" dt="2026-01-03T08:49:35.427" v="681" actId="1076"/>
          <ac:spMkLst>
            <pc:docMk/>
            <pc:sldMk cId="1722927609" sldId="264"/>
            <ac:spMk id="8" creationId="{B4DFF0D4-D7ED-BA9C-D35C-3296C07E776E}"/>
          </ac:spMkLst>
        </pc:spChg>
        <pc:picChg chg="add mod">
          <ac:chgData name="palakala rishik" userId="b3826f7171cae952" providerId="LiveId" clId="{4A4B60B7-3468-4E54-BE6C-793E2E3E88C3}" dt="2026-01-03T08:16:25.373" v="137"/>
          <ac:picMkLst>
            <pc:docMk/>
            <pc:sldMk cId="1722927609" sldId="264"/>
            <ac:picMk id="3" creationId="{C66140C7-8F83-9096-63B9-0F46389ACF63}"/>
          </ac:picMkLst>
        </pc:picChg>
        <pc:picChg chg="add mod">
          <ac:chgData name="palakala rishik" userId="b3826f7171cae952" providerId="LiveId" clId="{4A4B60B7-3468-4E54-BE6C-793E2E3E88C3}" dt="2026-01-06T13:48:06.538" v="925" actId="1036"/>
          <ac:picMkLst>
            <pc:docMk/>
            <pc:sldMk cId="1722927609" sldId="264"/>
            <ac:picMk id="4" creationId="{23140F6B-3F1B-15B7-68AB-81655AB7B11C}"/>
          </ac:picMkLst>
        </pc:picChg>
        <pc:picChg chg="add mod">
          <ac:chgData name="palakala rishik" userId="b3826f7171cae952" providerId="LiveId" clId="{4A4B60B7-3468-4E54-BE6C-793E2E3E88C3}" dt="2026-01-03T08:19:20.094" v="172" actId="14100"/>
          <ac:picMkLst>
            <pc:docMk/>
            <pc:sldMk cId="1722927609" sldId="264"/>
            <ac:picMk id="1028" creationId="{C3026C75-8DE6-75C0-4A07-628D0BB790D3}"/>
          </ac:picMkLst>
        </pc:picChg>
      </pc:sldChg>
      <pc:sldChg chg="addSp delSp modSp new mod modTransition">
        <pc:chgData name="palakala rishik" userId="b3826f7171cae952" providerId="LiveId" clId="{4A4B60B7-3468-4E54-BE6C-793E2E3E88C3}" dt="2026-01-03T09:03:59.327" v="761"/>
        <pc:sldMkLst>
          <pc:docMk/>
          <pc:sldMk cId="1574287269" sldId="265"/>
        </pc:sldMkLst>
        <pc:spChg chg="add del mod">
          <ac:chgData name="palakala rishik" userId="b3826f7171cae952" providerId="LiveId" clId="{4A4B60B7-3468-4E54-BE6C-793E2E3E88C3}" dt="2026-01-03T08:59:33.129" v="734" actId="1076"/>
          <ac:spMkLst>
            <pc:docMk/>
            <pc:sldMk cId="1574287269" sldId="265"/>
            <ac:spMk id="4" creationId="{2EB82366-FC61-4455-CB96-870785ACE491}"/>
          </ac:spMkLst>
        </pc:spChg>
        <pc:spChg chg="add mod">
          <ac:chgData name="palakala rishik" userId="b3826f7171cae952" providerId="LiveId" clId="{4A4B60B7-3468-4E54-BE6C-793E2E3E88C3}" dt="2026-01-03T09:03:45.054" v="760" actId="115"/>
          <ac:spMkLst>
            <pc:docMk/>
            <pc:sldMk cId="1574287269" sldId="265"/>
            <ac:spMk id="7" creationId="{04D71CCD-63BD-7D1C-38E4-434A515D9877}"/>
          </ac:spMkLst>
        </pc:spChg>
        <pc:picChg chg="add mod">
          <ac:chgData name="palakala rishik" userId="b3826f7171cae952" providerId="LiveId" clId="{4A4B60B7-3468-4E54-BE6C-793E2E3E88C3}" dt="2026-01-03T08:58:33.305" v="727" actId="1076"/>
          <ac:picMkLst>
            <pc:docMk/>
            <pc:sldMk cId="1574287269" sldId="265"/>
            <ac:picMk id="2" creationId="{6C876918-01FB-8A99-35B5-E5E22F0F68F3}"/>
          </ac:picMkLst>
        </pc:picChg>
        <pc:picChg chg="add mod">
          <ac:chgData name="palakala rishik" userId="b3826f7171cae952" providerId="LiveId" clId="{4A4B60B7-3468-4E54-BE6C-793E2E3E88C3}" dt="2026-01-03T08:59:41.259" v="735" actId="1076"/>
          <ac:picMkLst>
            <pc:docMk/>
            <pc:sldMk cId="1574287269" sldId="265"/>
            <ac:picMk id="5" creationId="{C2FBFD49-C939-DF36-569B-0D9B80872351}"/>
          </ac:picMkLst>
        </pc:picChg>
      </pc:sldChg>
      <pc:sldChg chg="addSp delSp modSp new mod modTransition">
        <pc:chgData name="palakala rishik" userId="b3826f7171cae952" providerId="LiveId" clId="{4A4B60B7-3468-4E54-BE6C-793E2E3E88C3}" dt="2026-01-03T09:20:42.233" v="798"/>
        <pc:sldMkLst>
          <pc:docMk/>
          <pc:sldMk cId="2966123645" sldId="266"/>
        </pc:sldMkLst>
        <pc:picChg chg="add mod">
          <ac:chgData name="palakala rishik" userId="b3826f7171cae952" providerId="LiveId" clId="{4A4B60B7-3468-4E54-BE6C-793E2E3E88C3}" dt="2026-01-03T09:15:29.889" v="780"/>
          <ac:picMkLst>
            <pc:docMk/>
            <pc:sldMk cId="2966123645" sldId="266"/>
            <ac:picMk id="6" creationId="{4E1A7B26-970A-5F9E-8F7A-DCC744838BF2}"/>
          </ac:picMkLst>
        </pc:picChg>
        <pc:picChg chg="add mod">
          <ac:chgData name="palakala rishik" userId="b3826f7171cae952" providerId="LiveId" clId="{4A4B60B7-3468-4E54-BE6C-793E2E3E88C3}" dt="2026-01-03T09:19:45.697" v="796" actId="14100"/>
          <ac:picMkLst>
            <pc:docMk/>
            <pc:sldMk cId="2966123645" sldId="266"/>
            <ac:picMk id="10" creationId="{F3E27BA2-06F3-575B-B9E9-E6D28AF4FFF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383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6.png"/><Relationship Id="rId21" Type="http://schemas.openxmlformats.org/officeDocument/2006/relationships/image" Target="../media/image37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3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7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6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7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7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6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7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18" Type="http://schemas.openxmlformats.org/officeDocument/2006/relationships/image" Target="../media/image86.png"/><Relationship Id="rId3" Type="http://schemas.openxmlformats.org/officeDocument/2006/relationships/image" Target="../media/image6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15.png"/><Relationship Id="rId10" Type="http://schemas.openxmlformats.org/officeDocument/2006/relationships/image" Target="../media/image79.png"/><Relationship Id="rId4" Type="http://schemas.openxmlformats.org/officeDocument/2006/relationships/image" Target="../media/image7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3" Type="http://schemas.openxmlformats.org/officeDocument/2006/relationships/image" Target="../media/image6.png"/><Relationship Id="rId21" Type="http://schemas.openxmlformats.org/officeDocument/2006/relationships/image" Target="../media/image103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98.png"/><Relationship Id="rId20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19" Type="http://schemas.openxmlformats.org/officeDocument/2006/relationships/image" Target="../media/image101.png"/><Relationship Id="rId4" Type="http://schemas.openxmlformats.org/officeDocument/2006/relationships/image" Target="../media/image7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Relationship Id="rId22" Type="http://schemas.openxmlformats.org/officeDocument/2006/relationships/image" Target="../media/image10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4" descr="preencoded.png">
            <a:extLst>
              <a:ext uri="{FF2B5EF4-FFF2-40B4-BE49-F238E27FC236}">
                <a16:creationId xmlns:a16="http://schemas.microsoft.com/office/drawing/2014/main" id="{C66140C7-8F83-9096-63B9-0F46389AC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86500"/>
            <a:ext cx="12192000" cy="571500"/>
          </a:xfrm>
          <a:prstGeom prst="rect">
            <a:avLst/>
          </a:prstGeom>
        </p:spPr>
      </p:pic>
      <p:pic>
        <p:nvPicPr>
          <p:cNvPr id="1028" name="Picture 4" descr="Infosys Springboard">
            <a:extLst>
              <a:ext uri="{FF2B5EF4-FFF2-40B4-BE49-F238E27FC236}">
                <a16:creationId xmlns:a16="http://schemas.microsoft.com/office/drawing/2014/main" id="{C3026C75-8DE6-75C0-4A07-628D0BB79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348" y="534838"/>
            <a:ext cx="4882550" cy="211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23140F6B-3F1B-15B7-68AB-81655AB7B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62" y="18662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9D1B7C-206F-1ADB-B640-73EB3A9A114A}"/>
              </a:ext>
            </a:extLst>
          </p:cNvPr>
          <p:cNvSpPr txBox="1"/>
          <p:nvPr/>
        </p:nvSpPr>
        <p:spPr>
          <a:xfrm>
            <a:off x="750498" y="4285165"/>
            <a:ext cx="4804913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b="1" u="sng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</a:rPr>
              <a:t>Mentor </a:t>
            </a:r>
          </a:p>
          <a:p>
            <a:pPr>
              <a:lnSpc>
                <a:spcPts val="2700"/>
              </a:lnSpc>
            </a:pPr>
            <a:r>
              <a:rPr lang="en-US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</a:rPr>
              <a:t>Name : Rahul Yadav</a:t>
            </a:r>
            <a:endParaRPr lang="en-US" u="sng" dirty="0">
              <a:solidFill>
                <a:srgbClr val="0F766E"/>
              </a:solidFill>
              <a:latin typeface="ui-sans-serif" pitchFamily="34" charset="0"/>
              <a:ea typeface="ui-sans-serif" pitchFamily="34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DFF0D4-D7ED-BA9C-D35C-3296C07E776E}"/>
              </a:ext>
            </a:extLst>
          </p:cNvPr>
          <p:cNvSpPr txBox="1"/>
          <p:nvPr/>
        </p:nvSpPr>
        <p:spPr>
          <a:xfrm>
            <a:off x="7550270" y="4353526"/>
            <a:ext cx="6163572" cy="1105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b="1" u="sng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</a:rPr>
              <a:t>Present by </a:t>
            </a:r>
          </a:p>
          <a:p>
            <a:pPr>
              <a:lnSpc>
                <a:spcPts val="2700"/>
              </a:lnSpc>
            </a:pPr>
            <a:r>
              <a:rPr lang="en-US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</a:rPr>
              <a:t>Name : P Rishik Reddy</a:t>
            </a:r>
            <a:endParaRPr lang="en-US" u="sng" dirty="0">
              <a:solidFill>
                <a:srgbClr val="0F766E"/>
              </a:solidFill>
              <a:latin typeface="ui-sans-serif" pitchFamily="34" charset="0"/>
              <a:ea typeface="ui-sans-serif" pitchFamily="34" charset="-122"/>
            </a:endParaRPr>
          </a:p>
          <a:p>
            <a:pPr>
              <a:lnSpc>
                <a:spcPts val="2700"/>
              </a:lnSpc>
            </a:pPr>
            <a:r>
              <a:rPr lang="en-US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</a:rPr>
              <a:t>E-mail : </a:t>
            </a:r>
            <a:r>
              <a:rPr lang="en-IN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</a:rPr>
              <a:t>230301240910@paruluniversity.ac.in</a:t>
            </a:r>
            <a:r>
              <a:rPr lang="en-US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22927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5800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86500"/>
            <a:ext cx="12192000" cy="5715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46353" y="1524000"/>
            <a:ext cx="11499294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 of Airline Operations</a:t>
            </a:r>
            <a:endParaRPr lang="en-US" sz="4500" dirty="0"/>
          </a:p>
        </p:txBody>
      </p:sp>
      <p:sp>
        <p:nvSpPr>
          <p:cNvPr id="8" name="Text 1"/>
          <p:cNvSpPr/>
          <p:nvPr/>
        </p:nvSpPr>
        <p:spPr>
          <a:xfrm>
            <a:off x="346353" y="2324100"/>
            <a:ext cx="1149929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Comprehensive Data-Driven Report</a:t>
            </a:r>
            <a:endParaRPr lang="en-US" sz="2250" dirty="0"/>
          </a:p>
        </p:txBody>
      </p:sp>
      <p:sp>
        <p:nvSpPr>
          <p:cNvPr id="9" name="Text 2"/>
          <p:cNvSpPr/>
          <p:nvPr/>
        </p:nvSpPr>
        <p:spPr>
          <a:xfrm>
            <a:off x="3424729" y="4191000"/>
            <a:ext cx="20300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300K+</a:t>
            </a:r>
            <a:endParaRPr lang="en-US" sz="3600" dirty="0"/>
          </a:p>
        </p:txBody>
      </p:sp>
      <p:sp>
        <p:nvSpPr>
          <p:cNvPr id="10" name="Text 3"/>
          <p:cNvSpPr/>
          <p:nvPr/>
        </p:nvSpPr>
        <p:spPr>
          <a:xfrm>
            <a:off x="3424729" y="4724400"/>
            <a:ext cx="20300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Flights Analyzed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5788462" y="4191000"/>
            <a:ext cx="128123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</a:t>
            </a:r>
            <a:endParaRPr lang="en-US" sz="3600" dirty="0"/>
          </a:p>
        </p:txBody>
      </p:sp>
      <p:sp>
        <p:nvSpPr>
          <p:cNvPr id="12" name="Text 5"/>
          <p:cNvSpPr/>
          <p:nvPr/>
        </p:nvSpPr>
        <p:spPr>
          <a:xfrm>
            <a:off x="5788462" y="4724400"/>
            <a:ext cx="128123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Features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7469981" y="4191000"/>
            <a:ext cx="123051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49h</a:t>
            </a:r>
            <a:endParaRPr lang="en-US" sz="3600" dirty="0"/>
          </a:p>
        </p:txBody>
      </p:sp>
      <p:sp>
        <p:nvSpPr>
          <p:cNvPr id="14" name="Text 7"/>
          <p:cNvSpPr/>
          <p:nvPr/>
        </p:nvSpPr>
        <p:spPr>
          <a:xfrm>
            <a:off x="7469981" y="4724400"/>
            <a:ext cx="123051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 Duration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620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38225"/>
            <a:ext cx="247650" cy="285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714500"/>
            <a:ext cx="5638800" cy="4305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9050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247900"/>
            <a:ext cx="5334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628900"/>
            <a:ext cx="5334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390900"/>
            <a:ext cx="5334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152900"/>
            <a:ext cx="5334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914900"/>
            <a:ext cx="5334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676900"/>
            <a:ext cx="5334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1714500"/>
            <a:ext cx="5638800" cy="2171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1905000"/>
            <a:ext cx="190500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2286000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28575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3200400"/>
            <a:ext cx="1333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543300"/>
            <a:ext cx="13335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0" y="4038600"/>
            <a:ext cx="5638800" cy="1219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4229100"/>
            <a:ext cx="190500" cy="1905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04800" y="304800"/>
            <a:ext cx="138988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Dataset Overview and Key Features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704850" y="1028700"/>
            <a:ext cx="111823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Flights Booking Dataset contains </a:t>
            </a:r>
            <a:r>
              <a:rPr lang="en-US" sz="13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300,153</a:t>
            </a: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entries of flight travel details between cities in India, with </a:t>
            </a:r>
            <a:r>
              <a:rPr lang="en-US" sz="13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</a:t>
            </a: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columns capturing comprehensive information about flight operations and passenger experience.</a:t>
            </a:r>
            <a:endParaRPr lang="en-US" sz="1350" dirty="0"/>
          </a:p>
        </p:txBody>
      </p:sp>
      <p:sp>
        <p:nvSpPr>
          <p:cNvPr id="23" name="Text 2"/>
          <p:cNvSpPr/>
          <p:nvPr/>
        </p:nvSpPr>
        <p:spPr>
          <a:xfrm>
            <a:off x="723900" y="186690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571500" y="2247900"/>
            <a:ext cx="195560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Name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2201168" y="2247900"/>
            <a:ext cx="247545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4676626" y="2247900"/>
            <a:ext cx="147464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Type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571500" y="2628900"/>
            <a:ext cx="16296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airline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2201168" y="2628900"/>
            <a:ext cx="2970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Name of the airline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4676626" y="2628900"/>
            <a:ext cx="122887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571500" y="3009900"/>
            <a:ext cx="16296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2201168" y="3009900"/>
            <a:ext cx="247545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 number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4676626" y="3009900"/>
            <a:ext cx="122887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571500" y="3390900"/>
            <a:ext cx="195560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source_city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2201168" y="3390900"/>
            <a:ext cx="2970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City of departure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4676626" y="3390900"/>
            <a:ext cx="122887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</a:t>
            </a:r>
            <a:endParaRPr lang="en-US" sz="1200" dirty="0"/>
          </a:p>
        </p:txBody>
      </p:sp>
      <p:sp>
        <p:nvSpPr>
          <p:cNvPr id="36" name="Text 15"/>
          <p:cNvSpPr/>
          <p:nvPr/>
        </p:nvSpPr>
        <p:spPr>
          <a:xfrm>
            <a:off x="571500" y="3771900"/>
            <a:ext cx="195560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departure_time</a:t>
            </a:r>
            <a:endParaRPr lang="en-US" sz="1200" dirty="0"/>
          </a:p>
        </p:txBody>
      </p:sp>
      <p:sp>
        <p:nvSpPr>
          <p:cNvPr id="37" name="Text 16"/>
          <p:cNvSpPr/>
          <p:nvPr/>
        </p:nvSpPr>
        <p:spPr>
          <a:xfrm>
            <a:off x="2201168" y="3771900"/>
            <a:ext cx="2970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 of day for departure</a:t>
            </a:r>
            <a:endParaRPr lang="en-US" sz="1200" dirty="0"/>
          </a:p>
        </p:txBody>
      </p:sp>
      <p:sp>
        <p:nvSpPr>
          <p:cNvPr id="38" name="Text 17"/>
          <p:cNvSpPr/>
          <p:nvPr/>
        </p:nvSpPr>
        <p:spPr>
          <a:xfrm>
            <a:off x="4676626" y="3771900"/>
            <a:ext cx="122887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</a:t>
            </a:r>
            <a:endParaRPr lang="en-US" sz="1200" dirty="0"/>
          </a:p>
        </p:txBody>
      </p:sp>
      <p:sp>
        <p:nvSpPr>
          <p:cNvPr id="39" name="Text 18"/>
          <p:cNvSpPr/>
          <p:nvPr/>
        </p:nvSpPr>
        <p:spPr>
          <a:xfrm>
            <a:off x="571500" y="4152900"/>
            <a:ext cx="16296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stops</a:t>
            </a:r>
            <a:endParaRPr lang="en-US" sz="1200" dirty="0"/>
          </a:p>
        </p:txBody>
      </p:sp>
      <p:sp>
        <p:nvSpPr>
          <p:cNvPr id="40" name="Text 19"/>
          <p:cNvSpPr/>
          <p:nvPr/>
        </p:nvSpPr>
        <p:spPr>
          <a:xfrm>
            <a:off x="2201168" y="4152900"/>
            <a:ext cx="2970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Number of stops</a:t>
            </a:r>
            <a:endParaRPr lang="en-US" sz="1200" dirty="0"/>
          </a:p>
        </p:txBody>
      </p:sp>
      <p:sp>
        <p:nvSpPr>
          <p:cNvPr id="41" name="Text 20"/>
          <p:cNvSpPr/>
          <p:nvPr/>
        </p:nvSpPr>
        <p:spPr>
          <a:xfrm>
            <a:off x="4676626" y="4152900"/>
            <a:ext cx="122887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</a:t>
            </a:r>
            <a:endParaRPr lang="en-US" sz="1200" dirty="0"/>
          </a:p>
        </p:txBody>
      </p:sp>
      <p:sp>
        <p:nvSpPr>
          <p:cNvPr id="42" name="Text 21"/>
          <p:cNvSpPr/>
          <p:nvPr/>
        </p:nvSpPr>
        <p:spPr>
          <a:xfrm>
            <a:off x="571500" y="4533900"/>
            <a:ext cx="195560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arrival_time</a:t>
            </a:r>
            <a:endParaRPr lang="en-US" sz="1200" dirty="0"/>
          </a:p>
        </p:txBody>
      </p:sp>
      <p:sp>
        <p:nvSpPr>
          <p:cNvPr id="43" name="Text 22"/>
          <p:cNvSpPr/>
          <p:nvPr/>
        </p:nvSpPr>
        <p:spPr>
          <a:xfrm>
            <a:off x="2201168" y="4533900"/>
            <a:ext cx="2970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 of day for arrival</a:t>
            </a:r>
            <a:endParaRPr lang="en-US" sz="1200" dirty="0"/>
          </a:p>
        </p:txBody>
      </p:sp>
      <p:sp>
        <p:nvSpPr>
          <p:cNvPr id="44" name="Text 23"/>
          <p:cNvSpPr/>
          <p:nvPr/>
        </p:nvSpPr>
        <p:spPr>
          <a:xfrm>
            <a:off x="4676626" y="4533900"/>
            <a:ext cx="122887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</a:t>
            </a:r>
            <a:endParaRPr lang="en-US" sz="1200" dirty="0"/>
          </a:p>
        </p:txBody>
      </p:sp>
      <p:sp>
        <p:nvSpPr>
          <p:cNvPr id="45" name="Text 24"/>
          <p:cNvSpPr/>
          <p:nvPr/>
        </p:nvSpPr>
        <p:spPr>
          <a:xfrm>
            <a:off x="571500" y="4914900"/>
            <a:ext cx="195560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destination_city</a:t>
            </a:r>
            <a:endParaRPr lang="en-US" sz="1200" dirty="0"/>
          </a:p>
        </p:txBody>
      </p:sp>
      <p:sp>
        <p:nvSpPr>
          <p:cNvPr id="46" name="Text 25"/>
          <p:cNvSpPr/>
          <p:nvPr/>
        </p:nvSpPr>
        <p:spPr>
          <a:xfrm>
            <a:off x="2201168" y="4914900"/>
            <a:ext cx="2970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City of arrival</a:t>
            </a:r>
            <a:endParaRPr lang="en-US" sz="1200" dirty="0"/>
          </a:p>
        </p:txBody>
      </p:sp>
      <p:sp>
        <p:nvSpPr>
          <p:cNvPr id="47" name="Text 26"/>
          <p:cNvSpPr/>
          <p:nvPr/>
        </p:nvSpPr>
        <p:spPr>
          <a:xfrm>
            <a:off x="4676626" y="4914900"/>
            <a:ext cx="122887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</a:t>
            </a:r>
            <a:endParaRPr lang="en-US" sz="1200" dirty="0"/>
          </a:p>
        </p:txBody>
      </p:sp>
      <p:sp>
        <p:nvSpPr>
          <p:cNvPr id="48" name="Text 27"/>
          <p:cNvSpPr/>
          <p:nvPr/>
        </p:nvSpPr>
        <p:spPr>
          <a:xfrm>
            <a:off x="571500" y="5295900"/>
            <a:ext cx="16296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class</a:t>
            </a:r>
            <a:endParaRPr lang="en-US" sz="1200" dirty="0"/>
          </a:p>
        </p:txBody>
      </p:sp>
      <p:sp>
        <p:nvSpPr>
          <p:cNvPr id="49" name="Text 28"/>
          <p:cNvSpPr/>
          <p:nvPr/>
        </p:nvSpPr>
        <p:spPr>
          <a:xfrm>
            <a:off x="2201168" y="5295900"/>
            <a:ext cx="247545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Travel class</a:t>
            </a:r>
            <a:endParaRPr lang="en-US" sz="1200" dirty="0"/>
          </a:p>
        </p:txBody>
      </p:sp>
      <p:sp>
        <p:nvSpPr>
          <p:cNvPr id="50" name="Text 29"/>
          <p:cNvSpPr/>
          <p:nvPr/>
        </p:nvSpPr>
        <p:spPr>
          <a:xfrm>
            <a:off x="4676626" y="5295900"/>
            <a:ext cx="122887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</a:t>
            </a:r>
            <a:endParaRPr lang="en-US" sz="1200" dirty="0"/>
          </a:p>
        </p:txBody>
      </p:sp>
      <p:sp>
        <p:nvSpPr>
          <p:cNvPr id="51" name="Text 30"/>
          <p:cNvSpPr/>
          <p:nvPr/>
        </p:nvSpPr>
        <p:spPr>
          <a:xfrm>
            <a:off x="571500" y="5676900"/>
            <a:ext cx="16296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duration</a:t>
            </a:r>
            <a:endParaRPr lang="en-US" sz="1200" dirty="0"/>
          </a:p>
        </p:txBody>
      </p:sp>
      <p:sp>
        <p:nvSpPr>
          <p:cNvPr id="52" name="Text 31"/>
          <p:cNvSpPr/>
          <p:nvPr/>
        </p:nvSpPr>
        <p:spPr>
          <a:xfrm>
            <a:off x="2201168" y="5676900"/>
            <a:ext cx="2970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 duration in hours</a:t>
            </a:r>
            <a:endParaRPr lang="en-US" sz="1200" dirty="0"/>
          </a:p>
        </p:txBody>
      </p:sp>
      <p:sp>
        <p:nvSpPr>
          <p:cNvPr id="53" name="Text 32"/>
          <p:cNvSpPr/>
          <p:nvPr/>
        </p:nvSpPr>
        <p:spPr>
          <a:xfrm>
            <a:off x="4676626" y="5676900"/>
            <a:ext cx="147464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Float64</a:t>
            </a:r>
            <a:endParaRPr lang="en-US" sz="1200" dirty="0"/>
          </a:p>
        </p:txBody>
      </p:sp>
      <p:sp>
        <p:nvSpPr>
          <p:cNvPr id="54" name="Text 33"/>
          <p:cNvSpPr/>
          <p:nvPr/>
        </p:nvSpPr>
        <p:spPr>
          <a:xfrm>
            <a:off x="6667500" y="186690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Dataset Characteristics</a:t>
            </a:r>
            <a:endParaRPr lang="en-US" sz="1500" dirty="0"/>
          </a:p>
        </p:txBody>
      </p:sp>
      <p:sp>
        <p:nvSpPr>
          <p:cNvPr id="55" name="Text 34"/>
          <p:cNvSpPr/>
          <p:nvPr/>
        </p:nvSpPr>
        <p:spPr>
          <a:xfrm>
            <a:off x="6705600" y="22479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Comprehensive flight details including source and destination cities</a:t>
            </a:r>
            <a:endParaRPr lang="en-US" sz="1200" dirty="0"/>
          </a:p>
        </p:txBody>
      </p:sp>
      <p:sp>
        <p:nvSpPr>
          <p:cNvPr id="56" name="Text 35"/>
          <p:cNvSpPr/>
          <p:nvPr/>
        </p:nvSpPr>
        <p:spPr>
          <a:xfrm>
            <a:off x="6667500" y="2819400"/>
            <a:ext cx="579590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Delay metrics (departure, arrival, carrier, weather, NAS delays)</a:t>
            </a:r>
            <a:endParaRPr lang="en-US" sz="1200" dirty="0"/>
          </a:p>
        </p:txBody>
      </p:sp>
      <p:sp>
        <p:nvSpPr>
          <p:cNvPr id="57" name="Text 36"/>
          <p:cNvSpPr/>
          <p:nvPr/>
        </p:nvSpPr>
        <p:spPr>
          <a:xfrm>
            <a:off x="6648450" y="3162300"/>
            <a:ext cx="396478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Pricing information and travel class options</a:t>
            </a:r>
            <a:endParaRPr lang="en-US" sz="1200" dirty="0"/>
          </a:p>
        </p:txBody>
      </p:sp>
      <p:sp>
        <p:nvSpPr>
          <p:cNvPr id="58" name="Text 37"/>
          <p:cNvSpPr/>
          <p:nvPr/>
        </p:nvSpPr>
        <p:spPr>
          <a:xfrm>
            <a:off x="6648450" y="3505200"/>
            <a:ext cx="497276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Temporal data including departure times and days left</a:t>
            </a:r>
            <a:endParaRPr lang="en-US" sz="1200" dirty="0"/>
          </a:p>
        </p:txBody>
      </p:sp>
      <p:sp>
        <p:nvSpPr>
          <p:cNvPr id="59" name="Text 38"/>
          <p:cNvSpPr/>
          <p:nvPr/>
        </p:nvSpPr>
        <p:spPr>
          <a:xfrm>
            <a:off x="6667500" y="419100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Quality</a:t>
            </a:r>
            <a:endParaRPr lang="en-US" sz="1500" dirty="0"/>
          </a:p>
        </p:txBody>
      </p:sp>
      <p:sp>
        <p:nvSpPr>
          <p:cNvPr id="60" name="Text 39"/>
          <p:cNvSpPr/>
          <p:nvPr/>
        </p:nvSpPr>
        <p:spPr>
          <a:xfrm>
            <a:off x="6134100" y="4572000"/>
            <a:ext cx="3200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300,153</a:t>
            </a:r>
            <a:endParaRPr lang="en-US" sz="2250" dirty="0"/>
          </a:p>
        </p:txBody>
      </p:sp>
      <p:sp>
        <p:nvSpPr>
          <p:cNvPr id="61" name="Text 40"/>
          <p:cNvSpPr/>
          <p:nvPr/>
        </p:nvSpPr>
        <p:spPr>
          <a:xfrm>
            <a:off x="6400800" y="4914900"/>
            <a:ext cx="2667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Total Entries</a:t>
            </a:r>
            <a:endParaRPr lang="en-US" sz="1050" dirty="0"/>
          </a:p>
        </p:txBody>
      </p:sp>
      <p:sp>
        <p:nvSpPr>
          <p:cNvPr id="62" name="Text 41"/>
          <p:cNvSpPr/>
          <p:nvPr/>
        </p:nvSpPr>
        <p:spPr>
          <a:xfrm>
            <a:off x="9067800" y="4572000"/>
            <a:ext cx="2667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</a:t>
            </a:r>
            <a:endParaRPr lang="en-US" sz="2250" dirty="0"/>
          </a:p>
        </p:txBody>
      </p:sp>
      <p:sp>
        <p:nvSpPr>
          <p:cNvPr id="63" name="Text 42"/>
          <p:cNvSpPr/>
          <p:nvPr/>
        </p:nvSpPr>
        <p:spPr>
          <a:xfrm>
            <a:off x="9067800" y="4914900"/>
            <a:ext cx="2667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Columns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620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38225"/>
            <a:ext cx="285750" cy="285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524000"/>
            <a:ext cx="3708350" cy="3695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1524000"/>
            <a:ext cx="3708350" cy="495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" y="1676400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152900"/>
            <a:ext cx="3400425" cy="914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1750" y="1524000"/>
            <a:ext cx="3708350" cy="3695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41750" y="1524000"/>
            <a:ext cx="3708350" cy="495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56050" y="1676400"/>
            <a:ext cx="17145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94150" y="4152900"/>
            <a:ext cx="3400425" cy="914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78701" y="1524000"/>
            <a:ext cx="3708499" cy="3695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78701" y="1524000"/>
            <a:ext cx="3708499" cy="495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93001" y="1676400"/>
            <a:ext cx="190500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31101" y="4152900"/>
            <a:ext cx="3400425" cy="914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4800" y="5448300"/>
            <a:ext cx="11582400" cy="1104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5648325"/>
            <a:ext cx="133350" cy="171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" y="5981700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67200" y="5981700"/>
            <a:ext cx="1714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77200" y="5981700"/>
            <a:ext cx="114300" cy="152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04800" y="304800"/>
            <a:ext cx="138988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Statistical Summary of Flight Operations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742950" y="1028700"/>
            <a:ext cx="1307020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 of flight operations reveals key statistical patterns in durations, pricing, and delays from a dataset of 300,153 entries.</a:t>
            </a:r>
            <a:endParaRPr lang="en-US" sz="1350" dirty="0"/>
          </a:p>
        </p:txBody>
      </p:sp>
      <p:sp>
        <p:nvSpPr>
          <p:cNvPr id="24" name="Text 2"/>
          <p:cNvSpPr/>
          <p:nvPr/>
        </p:nvSpPr>
        <p:spPr>
          <a:xfrm>
            <a:off x="685800" y="1638300"/>
            <a:ext cx="3479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 Duration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457200" y="2171700"/>
            <a:ext cx="14123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Mean Duration: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2838004" y="2171700"/>
            <a:ext cx="122729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12.22 hours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457200" y="2476500"/>
            <a:ext cx="6413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Range: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2456259" y="2476500"/>
            <a:ext cx="168538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0.83 - 49.83 hours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457200" y="2781300"/>
            <a:ext cx="72687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Median: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2947541" y="2781300"/>
            <a:ext cx="109585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11.25 hours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4603700" y="1638300"/>
            <a:ext cx="3479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Price Analysis</a:t>
            </a:r>
            <a:endParaRPr lang="en-US" sz="1500" dirty="0"/>
          </a:p>
        </p:txBody>
      </p:sp>
      <p:sp>
        <p:nvSpPr>
          <p:cNvPr id="32" name="Text 10"/>
          <p:cNvSpPr/>
          <p:nvPr/>
        </p:nvSpPr>
        <p:spPr>
          <a:xfrm>
            <a:off x="4394150" y="2171700"/>
            <a:ext cx="6413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Range: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6288137" y="2171700"/>
            <a:ext cx="181147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₹1,105 - 1,23,071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4394150" y="2476500"/>
            <a:ext cx="1064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Mean Price: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6925121" y="2476500"/>
            <a:ext cx="104709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₹20,889.66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4394150" y="2781300"/>
            <a:ext cx="72687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Median: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7264450" y="2781300"/>
            <a:ext cx="6399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₹7,425</a:t>
            </a:r>
            <a:endParaRPr lang="en-US" sz="1200" dirty="0"/>
          </a:p>
        </p:txBody>
      </p:sp>
      <p:sp>
        <p:nvSpPr>
          <p:cNvPr id="38" name="Text 16"/>
          <p:cNvSpPr/>
          <p:nvPr/>
        </p:nvSpPr>
        <p:spPr>
          <a:xfrm>
            <a:off x="8559701" y="1638300"/>
            <a:ext cx="34798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Delay Analysis</a:t>
            </a:r>
            <a:endParaRPr lang="en-US" sz="1500" dirty="0"/>
          </a:p>
        </p:txBody>
      </p:sp>
      <p:sp>
        <p:nvSpPr>
          <p:cNvPr id="39" name="Text 17"/>
          <p:cNvSpPr/>
          <p:nvPr/>
        </p:nvSpPr>
        <p:spPr>
          <a:xfrm>
            <a:off x="8331101" y="2171700"/>
            <a:ext cx="20138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Avg. Departure Delay:</a:t>
            </a:r>
            <a:endParaRPr lang="en-US" sz="1200" dirty="0"/>
          </a:p>
        </p:txBody>
      </p:sp>
      <p:sp>
        <p:nvSpPr>
          <p:cNvPr id="40" name="Text 18"/>
          <p:cNvSpPr/>
          <p:nvPr/>
        </p:nvSpPr>
        <p:spPr>
          <a:xfrm>
            <a:off x="10880080" y="2171700"/>
            <a:ext cx="102566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43.97 min</a:t>
            </a:r>
            <a:endParaRPr lang="en-US" sz="1200" dirty="0"/>
          </a:p>
        </p:txBody>
      </p:sp>
      <p:sp>
        <p:nvSpPr>
          <p:cNvPr id="41" name="Text 19"/>
          <p:cNvSpPr/>
          <p:nvPr/>
        </p:nvSpPr>
        <p:spPr>
          <a:xfrm>
            <a:off x="8331101" y="2476500"/>
            <a:ext cx="16800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Avg. Arrival Delay:</a:t>
            </a:r>
            <a:endParaRPr lang="en-US" sz="1200" dirty="0"/>
          </a:p>
        </p:txBody>
      </p:sp>
      <p:sp>
        <p:nvSpPr>
          <p:cNvPr id="42" name="Text 20"/>
          <p:cNvSpPr/>
          <p:nvPr/>
        </p:nvSpPr>
        <p:spPr>
          <a:xfrm>
            <a:off x="10962680" y="2476500"/>
            <a:ext cx="92654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43.18 min</a:t>
            </a:r>
            <a:endParaRPr lang="en-US" sz="1200" dirty="0"/>
          </a:p>
        </p:txBody>
      </p:sp>
      <p:sp>
        <p:nvSpPr>
          <p:cNvPr id="43" name="Text 21"/>
          <p:cNvSpPr/>
          <p:nvPr/>
        </p:nvSpPr>
        <p:spPr>
          <a:xfrm>
            <a:off x="8331101" y="2781300"/>
            <a:ext cx="10670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Max. Delay:</a:t>
            </a:r>
            <a:endParaRPr lang="en-US" sz="1200" dirty="0"/>
          </a:p>
        </p:txBody>
      </p:sp>
      <p:sp>
        <p:nvSpPr>
          <p:cNvPr id="44" name="Text 22"/>
          <p:cNvSpPr/>
          <p:nvPr/>
        </p:nvSpPr>
        <p:spPr>
          <a:xfrm>
            <a:off x="10962680" y="2781300"/>
            <a:ext cx="92654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1,525 min</a:t>
            </a:r>
            <a:endParaRPr lang="en-US" sz="1200" dirty="0"/>
          </a:p>
        </p:txBody>
      </p:sp>
      <p:sp>
        <p:nvSpPr>
          <p:cNvPr id="45" name="Text 23"/>
          <p:cNvSpPr/>
          <p:nvPr/>
        </p:nvSpPr>
        <p:spPr>
          <a:xfrm>
            <a:off x="666750" y="56007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Insights</a:t>
            </a:r>
            <a:endParaRPr lang="en-US" sz="1350" dirty="0"/>
          </a:p>
        </p:txBody>
      </p:sp>
      <p:sp>
        <p:nvSpPr>
          <p:cNvPr id="46" name="Text 24"/>
          <p:cNvSpPr/>
          <p:nvPr/>
        </p:nvSpPr>
        <p:spPr>
          <a:xfrm>
            <a:off x="723900" y="5943600"/>
            <a:ext cx="3390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Most flights are short to medium haul (under 24 hours)</a:t>
            </a:r>
            <a:endParaRPr lang="en-US" sz="1200" dirty="0"/>
          </a:p>
        </p:txBody>
      </p:sp>
      <p:sp>
        <p:nvSpPr>
          <p:cNvPr id="47" name="Text 25"/>
          <p:cNvSpPr/>
          <p:nvPr/>
        </p:nvSpPr>
        <p:spPr>
          <a:xfrm>
            <a:off x="4514850" y="5943600"/>
            <a:ext cx="3409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Price varies significantly based on route and class</a:t>
            </a:r>
            <a:endParaRPr lang="en-US" sz="1200" dirty="0"/>
          </a:p>
        </p:txBody>
      </p:sp>
      <p:sp>
        <p:nvSpPr>
          <p:cNvPr id="48" name="Text 26"/>
          <p:cNvSpPr/>
          <p:nvPr/>
        </p:nvSpPr>
        <p:spPr>
          <a:xfrm>
            <a:off x="8267700" y="5943600"/>
            <a:ext cx="3467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Delays are common but vary by operation type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620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52500"/>
            <a:ext cx="5695950" cy="2705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1049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1981200"/>
            <a:ext cx="5467350" cy="1066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952500"/>
            <a:ext cx="5695950" cy="2705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5550" y="1104900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5550" y="1409700"/>
            <a:ext cx="5467350" cy="1066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3848100"/>
            <a:ext cx="5695950" cy="2705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4000500"/>
            <a:ext cx="19050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" y="4305300"/>
            <a:ext cx="5467350" cy="1066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" y="5410200"/>
            <a:ext cx="546735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" y="5867400"/>
            <a:ext cx="5467350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3848100"/>
            <a:ext cx="5695950" cy="2705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5550" y="4000500"/>
            <a:ext cx="171450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5550" y="4903434"/>
            <a:ext cx="5467350" cy="1066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05550" y="6000750"/>
            <a:ext cx="114300" cy="114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79323" y="6000750"/>
            <a:ext cx="114300" cy="1143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04800" y="304800"/>
            <a:ext cx="138988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 Characteristics and Patterns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685800" y="1066800"/>
            <a:ext cx="65608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 Duration Analysis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333271" y="1409700"/>
            <a:ext cx="10299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</a:rPr>
              <a:t>49.8mins</a:t>
            </a:r>
            <a:endParaRPr lang="en-US" sz="1800" dirty="0"/>
          </a:p>
        </p:txBody>
      </p:sp>
      <p:sp>
        <p:nvSpPr>
          <p:cNvPr id="23" name="Text 3"/>
          <p:cNvSpPr/>
          <p:nvPr/>
        </p:nvSpPr>
        <p:spPr>
          <a:xfrm>
            <a:off x="333271" y="1714500"/>
            <a:ext cx="10299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 Duration</a:t>
            </a:r>
            <a:endParaRPr lang="en-US" sz="1050" dirty="0"/>
          </a:p>
        </p:txBody>
      </p:sp>
      <p:sp>
        <p:nvSpPr>
          <p:cNvPr id="24" name="Text 4"/>
          <p:cNvSpPr/>
          <p:nvPr/>
        </p:nvSpPr>
        <p:spPr>
          <a:xfrm>
            <a:off x="2601784" y="1409700"/>
            <a:ext cx="10629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12.22hr</a:t>
            </a:r>
            <a:endParaRPr lang="en-US" sz="1800" dirty="0"/>
          </a:p>
        </p:txBody>
      </p:sp>
      <p:sp>
        <p:nvSpPr>
          <p:cNvPr id="25" name="Text 5"/>
          <p:cNvSpPr/>
          <p:nvPr/>
        </p:nvSpPr>
        <p:spPr>
          <a:xfrm>
            <a:off x="2601784" y="1714500"/>
            <a:ext cx="10629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 Duration</a:t>
            </a:r>
            <a:endParaRPr lang="en-US" sz="1050" dirty="0"/>
          </a:p>
        </p:txBody>
      </p:sp>
      <p:sp>
        <p:nvSpPr>
          <p:cNvPr id="26" name="Text 6"/>
          <p:cNvSpPr/>
          <p:nvPr/>
        </p:nvSpPr>
        <p:spPr>
          <a:xfrm>
            <a:off x="4899437" y="1409700"/>
            <a:ext cx="107674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49.83hr</a:t>
            </a:r>
            <a:endParaRPr lang="en-US" sz="1800" dirty="0"/>
          </a:p>
        </p:txBody>
      </p:sp>
      <p:sp>
        <p:nvSpPr>
          <p:cNvPr id="27" name="Text 7"/>
          <p:cNvSpPr/>
          <p:nvPr/>
        </p:nvSpPr>
        <p:spPr>
          <a:xfrm>
            <a:off x="4899437" y="1714500"/>
            <a:ext cx="107674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 Duration</a:t>
            </a:r>
            <a:endParaRPr lang="en-US" sz="1050" dirty="0"/>
          </a:p>
        </p:txBody>
      </p:sp>
      <p:sp>
        <p:nvSpPr>
          <p:cNvPr id="28" name="Text 8"/>
          <p:cNvSpPr/>
          <p:nvPr/>
        </p:nvSpPr>
        <p:spPr>
          <a:xfrm>
            <a:off x="419100" y="3086100"/>
            <a:ext cx="65608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>
              <a:lnSpc>
                <a:spcPts val="12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Short-haul (under 3h) and long-haul (over 10h) flights show distinct patterns.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6572250" y="1066800"/>
            <a:ext cx="5467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Departure Time Patterns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6457950" y="2667000"/>
            <a:ext cx="640842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>
              <a:lnSpc>
                <a:spcPts val="12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Morning and evening peaks correspond to business and leisure travel.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685800" y="3962400"/>
            <a:ext cx="65608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Number of Stops Distribution</a:t>
            </a:r>
            <a:endParaRPr lang="en-US" sz="1500" dirty="0"/>
          </a:p>
        </p:txBody>
      </p:sp>
      <p:sp>
        <p:nvSpPr>
          <p:cNvPr id="32" name="Text 12"/>
          <p:cNvSpPr/>
          <p:nvPr/>
        </p:nvSpPr>
        <p:spPr>
          <a:xfrm>
            <a:off x="428624" y="5410200"/>
            <a:ext cx="5495925" cy="590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Zero Stops(Dark Green):</a:t>
            </a:r>
            <a:endParaRPr lang="en-US" sz="900" dirty="0"/>
          </a:p>
        </p:txBody>
      </p:sp>
      <p:sp>
        <p:nvSpPr>
          <p:cNvPr id="33" name="Text 13"/>
          <p:cNvSpPr/>
          <p:nvPr/>
        </p:nvSpPr>
        <p:spPr>
          <a:xfrm>
            <a:off x="1883866" y="5410200"/>
            <a:ext cx="48145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Non-stop flights between major cities</a:t>
            </a:r>
            <a:endParaRPr lang="en-US" sz="900" dirty="0"/>
          </a:p>
        </p:txBody>
      </p:sp>
      <p:sp>
        <p:nvSpPr>
          <p:cNvPr id="34" name="Text 14"/>
          <p:cNvSpPr/>
          <p:nvPr/>
        </p:nvSpPr>
        <p:spPr>
          <a:xfrm>
            <a:off x="428625" y="5638800"/>
            <a:ext cx="145524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One Stop(Orange):</a:t>
            </a:r>
            <a:endParaRPr lang="en-US" sz="900" dirty="0"/>
          </a:p>
        </p:txBody>
      </p:sp>
      <p:sp>
        <p:nvSpPr>
          <p:cNvPr id="35" name="Text 15"/>
          <p:cNvSpPr/>
          <p:nvPr/>
        </p:nvSpPr>
        <p:spPr>
          <a:xfrm>
            <a:off x="1883866" y="5638800"/>
            <a:ext cx="48145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Flights with a single connection</a:t>
            </a:r>
            <a:endParaRPr lang="en-US" sz="900" dirty="0"/>
          </a:p>
        </p:txBody>
      </p:sp>
      <p:sp>
        <p:nvSpPr>
          <p:cNvPr id="36" name="Text 16"/>
          <p:cNvSpPr/>
          <p:nvPr/>
        </p:nvSpPr>
        <p:spPr>
          <a:xfrm>
            <a:off x="428625" y="5867400"/>
            <a:ext cx="17462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Two+ Stops(Light Green):</a:t>
            </a:r>
            <a:endParaRPr lang="en-US" sz="900" dirty="0"/>
          </a:p>
        </p:txBody>
      </p:sp>
      <p:sp>
        <p:nvSpPr>
          <p:cNvPr id="37" name="Text 17"/>
          <p:cNvSpPr/>
          <p:nvPr/>
        </p:nvSpPr>
        <p:spPr>
          <a:xfrm>
            <a:off x="1883866" y="5867400"/>
            <a:ext cx="48145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Flights requiring multiple connections</a:t>
            </a:r>
            <a:endParaRPr lang="en-US" sz="900" dirty="0"/>
          </a:p>
        </p:txBody>
      </p:sp>
      <p:sp>
        <p:nvSpPr>
          <p:cNvPr id="38" name="Text 18"/>
          <p:cNvSpPr/>
          <p:nvPr/>
        </p:nvSpPr>
        <p:spPr>
          <a:xfrm>
            <a:off x="6553200" y="3962400"/>
            <a:ext cx="65608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Pricing Patterns by Class</a:t>
            </a:r>
            <a:endParaRPr lang="en-US" sz="1500" dirty="0"/>
          </a:p>
        </p:txBody>
      </p:sp>
      <p:sp>
        <p:nvSpPr>
          <p:cNvPr id="39" name="Text 19"/>
          <p:cNvSpPr/>
          <p:nvPr/>
        </p:nvSpPr>
        <p:spPr>
          <a:xfrm>
            <a:off x="6217325" y="4305300"/>
            <a:ext cx="105870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₹1,105</a:t>
            </a:r>
            <a:endParaRPr lang="en-US" sz="1800" dirty="0"/>
          </a:p>
        </p:txBody>
      </p:sp>
      <p:sp>
        <p:nvSpPr>
          <p:cNvPr id="40" name="Text 20"/>
          <p:cNvSpPr/>
          <p:nvPr/>
        </p:nvSpPr>
        <p:spPr>
          <a:xfrm>
            <a:off x="6217325" y="4610100"/>
            <a:ext cx="105870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 Price</a:t>
            </a:r>
            <a:endParaRPr lang="en-US" sz="1050" dirty="0"/>
          </a:p>
        </p:txBody>
      </p:sp>
      <p:sp>
        <p:nvSpPr>
          <p:cNvPr id="41" name="Text 21"/>
          <p:cNvSpPr/>
          <p:nvPr/>
        </p:nvSpPr>
        <p:spPr>
          <a:xfrm>
            <a:off x="8255407" y="4305300"/>
            <a:ext cx="124944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₹20,890</a:t>
            </a:r>
            <a:endParaRPr lang="en-US" sz="1800" dirty="0"/>
          </a:p>
        </p:txBody>
      </p:sp>
      <p:sp>
        <p:nvSpPr>
          <p:cNvPr id="42" name="Text 22"/>
          <p:cNvSpPr/>
          <p:nvPr/>
        </p:nvSpPr>
        <p:spPr>
          <a:xfrm>
            <a:off x="8255407" y="4610100"/>
            <a:ext cx="124944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 Price</a:t>
            </a:r>
            <a:endParaRPr lang="en-US" sz="1050" dirty="0"/>
          </a:p>
        </p:txBody>
      </p:sp>
      <p:sp>
        <p:nvSpPr>
          <p:cNvPr id="43" name="Text 23"/>
          <p:cNvSpPr/>
          <p:nvPr/>
        </p:nvSpPr>
        <p:spPr>
          <a:xfrm>
            <a:off x="10452422" y="4305300"/>
            <a:ext cx="144035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₹123,071</a:t>
            </a:r>
            <a:endParaRPr lang="en-US" sz="1800" dirty="0"/>
          </a:p>
        </p:txBody>
      </p:sp>
      <p:sp>
        <p:nvSpPr>
          <p:cNvPr id="44" name="Text 24"/>
          <p:cNvSpPr/>
          <p:nvPr/>
        </p:nvSpPr>
        <p:spPr>
          <a:xfrm>
            <a:off x="10452422" y="4610100"/>
            <a:ext cx="144035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 Price</a:t>
            </a:r>
            <a:endParaRPr lang="en-US" sz="1050" dirty="0"/>
          </a:p>
        </p:txBody>
      </p:sp>
      <p:sp>
        <p:nvSpPr>
          <p:cNvPr id="45" name="Text 25"/>
          <p:cNvSpPr/>
          <p:nvPr/>
        </p:nvSpPr>
        <p:spPr>
          <a:xfrm>
            <a:off x="6457950" y="5981700"/>
            <a:ext cx="103620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Economy Class</a:t>
            </a:r>
            <a:endParaRPr lang="en-US" sz="900" dirty="0"/>
          </a:p>
        </p:txBody>
      </p:sp>
      <p:sp>
        <p:nvSpPr>
          <p:cNvPr id="46" name="Text 26"/>
          <p:cNvSpPr/>
          <p:nvPr/>
        </p:nvSpPr>
        <p:spPr>
          <a:xfrm>
            <a:off x="10931723" y="5981700"/>
            <a:ext cx="1009412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Business Class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961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620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38225"/>
            <a:ext cx="323850" cy="285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714500"/>
            <a:ext cx="6796980" cy="4533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905000"/>
            <a:ext cx="238125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580" y="1714500"/>
            <a:ext cx="4480471" cy="1562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8980" y="1914525"/>
            <a:ext cx="133350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6580" y="3429000"/>
            <a:ext cx="4480471" cy="1333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8980" y="3629025"/>
            <a:ext cx="171450" cy="171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6580" y="4914900"/>
            <a:ext cx="4480471" cy="1333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58980" y="5114925"/>
            <a:ext cx="190500" cy="171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800" y="6429375"/>
            <a:ext cx="133350" cy="13335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04800" y="304800"/>
            <a:ext cx="138988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Airline Market Presence Analysis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781050" y="1028700"/>
            <a:ext cx="111061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 of flight distribution across airlines reveals market share and operational scale. The visualization shows the relative presence of different airlines in the Indian flight market.</a:t>
            </a:r>
            <a:endParaRPr lang="en-US" sz="1350" dirty="0"/>
          </a:p>
        </p:txBody>
      </p:sp>
      <p:sp>
        <p:nvSpPr>
          <p:cNvPr id="17" name="Text 2"/>
          <p:cNvSpPr/>
          <p:nvPr/>
        </p:nvSpPr>
        <p:spPr>
          <a:xfrm>
            <a:off x="771525" y="1866900"/>
            <a:ext cx="779061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Number of Flights per Airline</a:t>
            </a:r>
            <a:endParaRPr lang="en-US" sz="1500" dirty="0"/>
          </a:p>
        </p:txBody>
      </p:sp>
      <p:sp>
        <p:nvSpPr>
          <p:cNvPr id="18" name="Text 3"/>
          <p:cNvSpPr/>
          <p:nvPr/>
        </p:nvSpPr>
        <p:spPr>
          <a:xfrm>
            <a:off x="-192018" y="5372100"/>
            <a:ext cx="779061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Distribution of flights across major airlines in India</a:t>
            </a:r>
            <a:endParaRPr lang="en-US" sz="1050" dirty="0"/>
          </a:p>
        </p:txBody>
      </p:sp>
      <p:sp>
        <p:nvSpPr>
          <p:cNvPr id="19" name="Text 4"/>
          <p:cNvSpPr/>
          <p:nvPr/>
        </p:nvSpPr>
        <p:spPr>
          <a:xfrm>
            <a:off x="7768530" y="1866900"/>
            <a:ext cx="41756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 Concentration</a:t>
            </a:r>
            <a:endParaRPr lang="en-US" sz="1350" dirty="0"/>
          </a:p>
        </p:txBody>
      </p:sp>
      <p:sp>
        <p:nvSpPr>
          <p:cNvPr id="20" name="Text 5"/>
          <p:cNvSpPr/>
          <p:nvPr/>
        </p:nvSpPr>
        <p:spPr>
          <a:xfrm>
            <a:off x="7558980" y="2209800"/>
            <a:ext cx="4175671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 indicates significant market concentration with a few major carriers dominating the flight market, while numerous smaller airlines operate specific routes.</a:t>
            </a:r>
            <a:endParaRPr lang="en-US" sz="1200" dirty="0"/>
          </a:p>
        </p:txBody>
      </p:sp>
      <p:sp>
        <p:nvSpPr>
          <p:cNvPr id="21" name="Text 6"/>
          <p:cNvSpPr/>
          <p:nvPr/>
        </p:nvSpPr>
        <p:spPr>
          <a:xfrm>
            <a:off x="7806630" y="3581400"/>
            <a:ext cx="41756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Specialization</a:t>
            </a:r>
            <a:endParaRPr lang="en-US" sz="1350" dirty="0"/>
          </a:p>
        </p:txBody>
      </p:sp>
      <p:sp>
        <p:nvSpPr>
          <p:cNvPr id="22" name="Text 7"/>
          <p:cNvSpPr/>
          <p:nvPr/>
        </p:nvSpPr>
        <p:spPr>
          <a:xfrm>
            <a:off x="7558980" y="3924300"/>
            <a:ext cx="417567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Airlines show different operational focuses, with some carriers specializing in domestic routes while others focus on international connections.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7825680" y="5067300"/>
            <a:ext cx="41756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 Scale</a:t>
            </a:r>
            <a:endParaRPr lang="en-US" sz="1350" dirty="0"/>
          </a:p>
        </p:txBody>
      </p:sp>
      <p:sp>
        <p:nvSpPr>
          <p:cNvPr id="24" name="Text 9"/>
          <p:cNvSpPr/>
          <p:nvPr/>
        </p:nvSpPr>
        <p:spPr>
          <a:xfrm>
            <a:off x="7558980" y="5410200"/>
            <a:ext cx="417567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Largest airlines operate multiple daily flights on major routes, while smaller carriers typically operate with lower frequency on specific corridors.</a:t>
            </a:r>
            <a:endParaRPr lang="en-US" sz="1200" dirty="0"/>
          </a:p>
        </p:txBody>
      </p:sp>
      <p:sp>
        <p:nvSpPr>
          <p:cNvPr id="25" name="Text 10"/>
          <p:cNvSpPr/>
          <p:nvPr/>
        </p:nvSpPr>
        <p:spPr>
          <a:xfrm>
            <a:off x="514350" y="6400800"/>
            <a:ext cx="297340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source: Flights Booking Dataset</a:t>
            </a:r>
            <a:endParaRPr lang="en-US" sz="1050" dirty="0"/>
          </a:p>
        </p:txBody>
      </p:sp>
      <p:sp>
        <p:nvSpPr>
          <p:cNvPr id="26" name="Text 11"/>
          <p:cNvSpPr/>
          <p:nvPr/>
        </p:nvSpPr>
        <p:spPr>
          <a:xfrm>
            <a:off x="11138892" y="6400800"/>
            <a:ext cx="89796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4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of 8</a:t>
            </a:r>
            <a:endParaRPr lang="en-US" sz="1050" dirty="0"/>
          </a:p>
        </p:txBody>
      </p:sp>
      <p:pic>
        <p:nvPicPr>
          <p:cNvPr id="29" name="Picture 28" descr="A graph of flight number&#10;&#10;AI-generated content may be incorrect.">
            <a:extLst>
              <a:ext uri="{FF2B5EF4-FFF2-40B4-BE49-F238E27FC236}">
                <a16:creationId xmlns:a16="http://schemas.microsoft.com/office/drawing/2014/main" id="{38138F6F-E355-9453-0CE6-A5CE6B1E704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1475" y="2238065"/>
            <a:ext cx="6370872" cy="358171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620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447800"/>
            <a:ext cx="6603950" cy="5105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981200"/>
            <a:ext cx="6296025" cy="400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3550" y="1447800"/>
            <a:ext cx="4673501" cy="2247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5950" y="1981200"/>
            <a:ext cx="2127200" cy="723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7451" y="1981200"/>
            <a:ext cx="2127200" cy="723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5950" y="2819400"/>
            <a:ext cx="2127200" cy="723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7451" y="2819400"/>
            <a:ext cx="2127200" cy="723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3550" y="3848100"/>
            <a:ext cx="4673501" cy="2705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65950" y="440055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13575" y="4476750"/>
            <a:ext cx="28575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5950" y="4933950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42150" y="5010150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65950" y="5467350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13575" y="5543550"/>
            <a:ext cx="285750" cy="2286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04800" y="304800"/>
            <a:ext cx="11582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Delay Analysis by Categories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304800" y="1028700"/>
            <a:ext cx="13898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 of flight delays reveals key patterns in operational efficiency, with various factors contributing to service disruptions.</a:t>
            </a:r>
            <a:endParaRPr lang="en-US" sz="1350" dirty="0"/>
          </a:p>
        </p:txBody>
      </p:sp>
      <p:sp>
        <p:nvSpPr>
          <p:cNvPr id="20" name="Text 2"/>
          <p:cNvSpPr/>
          <p:nvPr/>
        </p:nvSpPr>
        <p:spPr>
          <a:xfrm>
            <a:off x="457200" y="1600200"/>
            <a:ext cx="75589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Average Delay Distribution (Minutes)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7365950" y="1600200"/>
            <a:ext cx="43687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Statistics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7480250" y="2095500"/>
            <a:ext cx="2278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Mean Departure Delay</a:t>
            </a:r>
            <a:endParaRPr lang="en-US" sz="1050" dirty="0"/>
          </a:p>
        </p:txBody>
      </p:sp>
      <p:sp>
        <p:nvSpPr>
          <p:cNvPr id="23" name="Text 5"/>
          <p:cNvSpPr/>
          <p:nvPr/>
        </p:nvSpPr>
        <p:spPr>
          <a:xfrm>
            <a:off x="7480250" y="2286000"/>
            <a:ext cx="22783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43.97 min</a:t>
            </a:r>
            <a:endParaRPr lang="en-US" sz="1800" dirty="0"/>
          </a:p>
        </p:txBody>
      </p:sp>
      <p:sp>
        <p:nvSpPr>
          <p:cNvPr id="24" name="Text 6"/>
          <p:cNvSpPr/>
          <p:nvPr/>
        </p:nvSpPr>
        <p:spPr>
          <a:xfrm>
            <a:off x="9721751" y="2095500"/>
            <a:ext cx="2278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Mean Arrival Delay</a:t>
            </a:r>
            <a:endParaRPr lang="en-US" sz="1050" dirty="0"/>
          </a:p>
        </p:txBody>
      </p:sp>
      <p:sp>
        <p:nvSpPr>
          <p:cNvPr id="25" name="Text 7"/>
          <p:cNvSpPr/>
          <p:nvPr/>
        </p:nvSpPr>
        <p:spPr>
          <a:xfrm>
            <a:off x="9721751" y="2286000"/>
            <a:ext cx="22783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43.18 min</a:t>
            </a:r>
            <a:endParaRPr lang="en-US" sz="1800" dirty="0"/>
          </a:p>
        </p:txBody>
      </p:sp>
      <p:sp>
        <p:nvSpPr>
          <p:cNvPr id="26" name="Text 8"/>
          <p:cNvSpPr/>
          <p:nvPr/>
        </p:nvSpPr>
        <p:spPr>
          <a:xfrm>
            <a:off x="7480250" y="2933700"/>
            <a:ext cx="2278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 Departure Delay</a:t>
            </a:r>
            <a:endParaRPr lang="en-US" sz="1050" dirty="0"/>
          </a:p>
        </p:txBody>
      </p:sp>
      <p:sp>
        <p:nvSpPr>
          <p:cNvPr id="27" name="Text 9"/>
          <p:cNvSpPr/>
          <p:nvPr/>
        </p:nvSpPr>
        <p:spPr>
          <a:xfrm>
            <a:off x="7480250" y="3124200"/>
            <a:ext cx="22783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A8A0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1355 min</a:t>
            </a:r>
            <a:endParaRPr lang="en-US" sz="1800" dirty="0"/>
          </a:p>
        </p:txBody>
      </p:sp>
      <p:sp>
        <p:nvSpPr>
          <p:cNvPr id="28" name="Text 10"/>
          <p:cNvSpPr/>
          <p:nvPr/>
        </p:nvSpPr>
        <p:spPr>
          <a:xfrm>
            <a:off x="9721751" y="2933700"/>
            <a:ext cx="2278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 Arrival Delay</a:t>
            </a:r>
            <a:endParaRPr lang="en-US" sz="1050" dirty="0"/>
          </a:p>
        </p:txBody>
      </p:sp>
      <p:sp>
        <p:nvSpPr>
          <p:cNvPr id="29" name="Text 11"/>
          <p:cNvSpPr/>
          <p:nvPr/>
        </p:nvSpPr>
        <p:spPr>
          <a:xfrm>
            <a:off x="9721751" y="3124200"/>
            <a:ext cx="22783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A8A0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1525 min</a:t>
            </a:r>
            <a:endParaRPr lang="en-US" sz="1800" dirty="0"/>
          </a:p>
        </p:txBody>
      </p:sp>
      <p:sp>
        <p:nvSpPr>
          <p:cNvPr id="30" name="Text 12"/>
          <p:cNvSpPr/>
          <p:nvPr/>
        </p:nvSpPr>
        <p:spPr>
          <a:xfrm>
            <a:off x="7365950" y="4000500"/>
            <a:ext cx="43687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Delay Categories</a:t>
            </a:r>
            <a:endParaRPr lang="en-US" sz="1500" dirty="0"/>
          </a:p>
        </p:txBody>
      </p:sp>
      <p:sp>
        <p:nvSpPr>
          <p:cNvPr id="31" name="Text 13"/>
          <p:cNvSpPr/>
          <p:nvPr/>
        </p:nvSpPr>
        <p:spPr>
          <a:xfrm>
            <a:off x="7861250" y="4381500"/>
            <a:ext cx="20138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Carrier Delays</a:t>
            </a:r>
            <a:endParaRPr lang="en-US" sz="1200" dirty="0"/>
          </a:p>
        </p:txBody>
      </p:sp>
      <p:sp>
        <p:nvSpPr>
          <p:cNvPr id="32" name="Text 14"/>
          <p:cNvSpPr/>
          <p:nvPr/>
        </p:nvSpPr>
        <p:spPr>
          <a:xfrm>
            <a:off x="7861250" y="4610100"/>
            <a:ext cx="201382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Averaging 18.86 minutes</a:t>
            </a:r>
            <a:endParaRPr lang="en-US" sz="1050" dirty="0"/>
          </a:p>
        </p:txBody>
      </p:sp>
      <p:sp>
        <p:nvSpPr>
          <p:cNvPr id="33" name="Text 15"/>
          <p:cNvSpPr/>
          <p:nvPr/>
        </p:nvSpPr>
        <p:spPr>
          <a:xfrm>
            <a:off x="7861250" y="4914900"/>
            <a:ext cx="19120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Weather Delays</a:t>
            </a:r>
            <a:endParaRPr lang="en-US" sz="1200" dirty="0"/>
          </a:p>
        </p:txBody>
      </p:sp>
      <p:sp>
        <p:nvSpPr>
          <p:cNvPr id="34" name="Text 16"/>
          <p:cNvSpPr/>
          <p:nvPr/>
        </p:nvSpPr>
        <p:spPr>
          <a:xfrm>
            <a:off x="7861250" y="5143500"/>
            <a:ext cx="19120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Averaging 3.95 minutes</a:t>
            </a:r>
            <a:endParaRPr lang="en-US" sz="1050" dirty="0"/>
          </a:p>
        </p:txBody>
      </p:sp>
      <p:sp>
        <p:nvSpPr>
          <p:cNvPr id="35" name="Text 17"/>
          <p:cNvSpPr/>
          <p:nvPr/>
        </p:nvSpPr>
        <p:spPr>
          <a:xfrm>
            <a:off x="7861250" y="5448300"/>
            <a:ext cx="20138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NAS Delays</a:t>
            </a:r>
            <a:endParaRPr lang="en-US" sz="1200" dirty="0"/>
          </a:p>
        </p:txBody>
      </p:sp>
      <p:sp>
        <p:nvSpPr>
          <p:cNvPr id="36" name="Text 18"/>
          <p:cNvSpPr/>
          <p:nvPr/>
        </p:nvSpPr>
        <p:spPr>
          <a:xfrm>
            <a:off x="7861250" y="5676900"/>
            <a:ext cx="201382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Averaging 14.01 minutes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620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28700"/>
            <a:ext cx="2781300" cy="1524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1181100"/>
            <a:ext cx="952500" cy="952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0" y="1028700"/>
            <a:ext cx="2781300" cy="1524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2900" y="1181100"/>
            <a:ext cx="952500" cy="952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028700"/>
            <a:ext cx="2781300" cy="1524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1181100"/>
            <a:ext cx="952500" cy="952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900" y="1028700"/>
            <a:ext cx="2781300" cy="1524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20300" y="1181100"/>
            <a:ext cx="952500" cy="952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2781300"/>
            <a:ext cx="5715000" cy="3429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3009900"/>
            <a:ext cx="19050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3419475"/>
            <a:ext cx="1905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300" y="4181475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" y="4943475"/>
            <a:ext cx="1143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2781300"/>
            <a:ext cx="5715000" cy="3429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2700" y="3009900"/>
            <a:ext cx="19050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62700" y="3419475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62700" y="4181475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62700" y="4943475"/>
            <a:ext cx="123825" cy="152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04800" y="304800"/>
            <a:ext cx="138988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 Efficiency Insights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1243459" y="1295400"/>
            <a:ext cx="108477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43.97</a:t>
            </a:r>
            <a:endParaRPr lang="en-US" sz="2250" dirty="0"/>
          </a:p>
        </p:txBody>
      </p:sp>
      <p:sp>
        <p:nvSpPr>
          <p:cNvPr id="24" name="Text 2"/>
          <p:cNvSpPr/>
          <p:nvPr/>
        </p:nvSpPr>
        <p:spPr>
          <a:xfrm>
            <a:off x="1219200" y="1638300"/>
            <a:ext cx="952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Avg. Dep Delay (min)</a:t>
            </a:r>
            <a:endParaRPr lang="en-US" sz="1050" dirty="0"/>
          </a:p>
        </p:txBody>
      </p:sp>
      <p:sp>
        <p:nvSpPr>
          <p:cNvPr id="25" name="Text 3"/>
          <p:cNvSpPr/>
          <p:nvPr/>
        </p:nvSpPr>
        <p:spPr>
          <a:xfrm>
            <a:off x="209550" y="2209800"/>
            <a:ext cx="2971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Average Departure Delay</a:t>
            </a:r>
            <a:endParaRPr lang="en-US" sz="1050" dirty="0"/>
          </a:p>
        </p:txBody>
      </p:sp>
      <p:sp>
        <p:nvSpPr>
          <p:cNvPr id="26" name="Text 4"/>
          <p:cNvSpPr/>
          <p:nvPr/>
        </p:nvSpPr>
        <p:spPr>
          <a:xfrm>
            <a:off x="4177159" y="1295400"/>
            <a:ext cx="108477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A1620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43.18</a:t>
            </a:r>
            <a:endParaRPr lang="en-US" sz="2250" dirty="0"/>
          </a:p>
        </p:txBody>
      </p:sp>
      <p:sp>
        <p:nvSpPr>
          <p:cNvPr id="27" name="Text 5"/>
          <p:cNvSpPr/>
          <p:nvPr/>
        </p:nvSpPr>
        <p:spPr>
          <a:xfrm>
            <a:off x="4152900" y="1638300"/>
            <a:ext cx="952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A1620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Avg. Arr Delay (min)</a:t>
            </a:r>
            <a:endParaRPr lang="en-US" sz="1050" dirty="0"/>
          </a:p>
        </p:txBody>
      </p:sp>
      <p:sp>
        <p:nvSpPr>
          <p:cNvPr id="28" name="Text 6"/>
          <p:cNvSpPr/>
          <p:nvPr/>
        </p:nvSpPr>
        <p:spPr>
          <a:xfrm>
            <a:off x="3143250" y="2209800"/>
            <a:ext cx="2971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Average Arrival Delay</a:t>
            </a:r>
            <a:endParaRPr lang="en-US" sz="1050" dirty="0"/>
          </a:p>
        </p:txBody>
      </p:sp>
      <p:sp>
        <p:nvSpPr>
          <p:cNvPr id="29" name="Text 7"/>
          <p:cNvSpPr/>
          <p:nvPr/>
        </p:nvSpPr>
        <p:spPr>
          <a:xfrm>
            <a:off x="7110859" y="1295400"/>
            <a:ext cx="108477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B91C1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18.86</a:t>
            </a:r>
            <a:endParaRPr lang="en-US" sz="2250" dirty="0"/>
          </a:p>
        </p:txBody>
      </p:sp>
      <p:sp>
        <p:nvSpPr>
          <p:cNvPr id="30" name="Text 8"/>
          <p:cNvSpPr/>
          <p:nvPr/>
        </p:nvSpPr>
        <p:spPr>
          <a:xfrm>
            <a:off x="7086600" y="1638300"/>
            <a:ext cx="952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B91C1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Avg. Carrier Delay</a:t>
            </a:r>
            <a:endParaRPr lang="en-US" sz="1050" dirty="0"/>
          </a:p>
        </p:txBody>
      </p:sp>
      <p:sp>
        <p:nvSpPr>
          <p:cNvPr id="31" name="Text 9"/>
          <p:cNvSpPr/>
          <p:nvPr/>
        </p:nvSpPr>
        <p:spPr>
          <a:xfrm>
            <a:off x="6076950" y="2209800"/>
            <a:ext cx="2971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Average Carrier Delay</a:t>
            </a:r>
            <a:endParaRPr lang="en-US" sz="1050" dirty="0"/>
          </a:p>
        </p:txBody>
      </p:sp>
      <p:sp>
        <p:nvSpPr>
          <p:cNvPr id="32" name="Text 10"/>
          <p:cNvSpPr/>
          <p:nvPr/>
        </p:nvSpPr>
        <p:spPr>
          <a:xfrm>
            <a:off x="10143976" y="1295400"/>
            <a:ext cx="84617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3.95</a:t>
            </a:r>
            <a:endParaRPr lang="en-US" sz="2250" dirty="0"/>
          </a:p>
        </p:txBody>
      </p:sp>
      <p:sp>
        <p:nvSpPr>
          <p:cNvPr id="33" name="Text 11"/>
          <p:cNvSpPr/>
          <p:nvPr/>
        </p:nvSpPr>
        <p:spPr>
          <a:xfrm>
            <a:off x="10020300" y="1638300"/>
            <a:ext cx="952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Avg. Weather Delay</a:t>
            </a:r>
            <a:endParaRPr lang="en-US" sz="1050" dirty="0"/>
          </a:p>
        </p:txBody>
      </p:sp>
      <p:sp>
        <p:nvSpPr>
          <p:cNvPr id="34" name="Text 12"/>
          <p:cNvSpPr/>
          <p:nvPr/>
        </p:nvSpPr>
        <p:spPr>
          <a:xfrm>
            <a:off x="9010650" y="2209800"/>
            <a:ext cx="2971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Average Weather Delay</a:t>
            </a:r>
            <a:endParaRPr lang="en-US" sz="1050" dirty="0"/>
          </a:p>
        </p:txBody>
      </p:sp>
      <p:sp>
        <p:nvSpPr>
          <p:cNvPr id="35" name="Text 13"/>
          <p:cNvSpPr/>
          <p:nvPr/>
        </p:nvSpPr>
        <p:spPr>
          <a:xfrm>
            <a:off x="762000" y="297180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Problematic Areas</a:t>
            </a:r>
            <a:endParaRPr lang="en-US" sz="1500" dirty="0"/>
          </a:p>
        </p:txBody>
      </p:sp>
      <p:sp>
        <p:nvSpPr>
          <p:cNvPr id="36" name="Text 14"/>
          <p:cNvSpPr/>
          <p:nvPr/>
        </p:nvSpPr>
        <p:spPr>
          <a:xfrm>
            <a:off x="800100" y="3352800"/>
            <a:ext cx="5029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Significant Delays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800100" y="3581400"/>
            <a:ext cx="5029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Maximum delays reaching </a:t>
            </a:r>
            <a:r>
              <a:rPr lang="en-US" sz="10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1355 minutes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(over 22 hours) indicate severe operational challenges during peak periods.</a:t>
            </a:r>
            <a:endParaRPr lang="en-US" sz="1050" dirty="0"/>
          </a:p>
        </p:txBody>
      </p:sp>
      <p:sp>
        <p:nvSpPr>
          <p:cNvPr id="38" name="Text 16"/>
          <p:cNvSpPr/>
          <p:nvPr/>
        </p:nvSpPr>
        <p:spPr>
          <a:xfrm>
            <a:off x="762000" y="4114800"/>
            <a:ext cx="5067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Weather Impact</a:t>
            </a:r>
            <a:endParaRPr lang="en-US" sz="1200" dirty="0"/>
          </a:p>
        </p:txBody>
      </p:sp>
      <p:sp>
        <p:nvSpPr>
          <p:cNvPr id="39" name="Text 17"/>
          <p:cNvSpPr/>
          <p:nvPr/>
        </p:nvSpPr>
        <p:spPr>
          <a:xfrm>
            <a:off x="762000" y="4343400"/>
            <a:ext cx="50673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Weather delays, while generally lower, still contribute significantly with maximums up to </a:t>
            </a:r>
            <a:r>
              <a:rPr lang="en-US" sz="10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1049 minutes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especially during monsoon seasons.</a:t>
            </a:r>
            <a:endParaRPr lang="en-US" sz="1050" dirty="0"/>
          </a:p>
        </p:txBody>
      </p:sp>
      <p:sp>
        <p:nvSpPr>
          <p:cNvPr id="40" name="Text 18"/>
          <p:cNvSpPr/>
          <p:nvPr/>
        </p:nvSpPr>
        <p:spPr>
          <a:xfrm>
            <a:off x="723900" y="4876800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NAS Delays</a:t>
            </a:r>
            <a:endParaRPr lang="en-US" sz="1200" dirty="0"/>
          </a:p>
        </p:txBody>
      </p:sp>
      <p:sp>
        <p:nvSpPr>
          <p:cNvPr id="41" name="Text 19"/>
          <p:cNvSpPr/>
          <p:nvPr/>
        </p:nvSpPr>
        <p:spPr>
          <a:xfrm>
            <a:off x="723900" y="5105400"/>
            <a:ext cx="5105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National Airspace System delays average </a:t>
            </a:r>
            <a:r>
              <a:rPr lang="en-US" sz="10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14.01 minutes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with maximums reaching </a:t>
            </a:r>
            <a:r>
              <a:rPr lang="en-US" sz="10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1357 minutes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indicating capacity constraints.</a:t>
            </a:r>
            <a:endParaRPr lang="en-US" sz="1050" dirty="0"/>
          </a:p>
        </p:txBody>
      </p:sp>
      <p:sp>
        <p:nvSpPr>
          <p:cNvPr id="42" name="Text 20"/>
          <p:cNvSpPr/>
          <p:nvPr/>
        </p:nvSpPr>
        <p:spPr>
          <a:xfrm>
            <a:off x="6629400" y="297180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 Strengths</a:t>
            </a:r>
            <a:endParaRPr lang="en-US" sz="1500" dirty="0"/>
          </a:p>
        </p:txBody>
      </p:sp>
      <p:sp>
        <p:nvSpPr>
          <p:cNvPr id="43" name="Text 21"/>
          <p:cNvSpPr/>
          <p:nvPr/>
        </p:nvSpPr>
        <p:spPr>
          <a:xfrm>
            <a:off x="6667500" y="3352800"/>
            <a:ext cx="5029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Arrival Performance</a:t>
            </a:r>
            <a:endParaRPr lang="en-US" sz="1200" dirty="0"/>
          </a:p>
        </p:txBody>
      </p:sp>
      <p:sp>
        <p:nvSpPr>
          <p:cNvPr id="44" name="Text 22"/>
          <p:cNvSpPr/>
          <p:nvPr/>
        </p:nvSpPr>
        <p:spPr>
          <a:xfrm>
            <a:off x="6667500" y="3581400"/>
            <a:ext cx="5029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Arrival delays are consistently </a:t>
            </a:r>
            <a:r>
              <a:rPr lang="en-US" sz="10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0.5-1%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better than departure delays, showing improved operational efficiency closer to destinations.</a:t>
            </a:r>
            <a:endParaRPr lang="en-US" sz="1050" dirty="0"/>
          </a:p>
        </p:txBody>
      </p:sp>
      <p:sp>
        <p:nvSpPr>
          <p:cNvPr id="45" name="Text 23"/>
          <p:cNvSpPr/>
          <p:nvPr/>
        </p:nvSpPr>
        <p:spPr>
          <a:xfrm>
            <a:off x="6629400" y="4114800"/>
            <a:ext cx="5067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 Duration Range</a:t>
            </a:r>
            <a:endParaRPr lang="en-US" sz="1200" dirty="0"/>
          </a:p>
        </p:txBody>
      </p:sp>
      <p:sp>
        <p:nvSpPr>
          <p:cNvPr id="46" name="Text 24"/>
          <p:cNvSpPr/>
          <p:nvPr/>
        </p:nvSpPr>
        <p:spPr>
          <a:xfrm>
            <a:off x="6629400" y="4343400"/>
            <a:ext cx="50673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Flights ranging from </a:t>
            </a:r>
            <a:r>
              <a:rPr lang="en-US" sz="10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0.83 hours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to </a:t>
            </a:r>
            <a:r>
              <a:rPr lang="en-US" sz="10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49.83 hours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demonstrate operational flexibility across short-haul and long-haul routes.</a:t>
            </a:r>
            <a:endParaRPr lang="en-US" sz="1050" dirty="0"/>
          </a:p>
        </p:txBody>
      </p:sp>
      <p:sp>
        <p:nvSpPr>
          <p:cNvPr id="47" name="Text 25"/>
          <p:cNvSpPr/>
          <p:nvPr/>
        </p:nvSpPr>
        <p:spPr>
          <a:xfrm>
            <a:off x="6600825" y="4876800"/>
            <a:ext cx="50958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Price Variability</a:t>
            </a:r>
            <a:endParaRPr lang="en-US" sz="1200" dirty="0"/>
          </a:p>
        </p:txBody>
      </p:sp>
      <p:sp>
        <p:nvSpPr>
          <p:cNvPr id="48" name="Text 26"/>
          <p:cNvSpPr/>
          <p:nvPr/>
        </p:nvSpPr>
        <p:spPr>
          <a:xfrm>
            <a:off x="6600825" y="5105400"/>
            <a:ext cx="50958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Ticket prices varying from </a:t>
            </a:r>
            <a:r>
              <a:rPr lang="en-US" sz="10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₹1,105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to </a:t>
            </a:r>
            <a:r>
              <a:rPr lang="en-US" sz="10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₹123,071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indicate diverse market positioning and operational cost structures.</a:t>
            </a:r>
            <a:endParaRPr lang="en-US" sz="1050" dirty="0"/>
          </a:p>
        </p:txBody>
      </p:sp>
      <p:sp>
        <p:nvSpPr>
          <p:cNvPr id="49" name="Text 27"/>
          <p:cNvSpPr/>
          <p:nvPr/>
        </p:nvSpPr>
        <p:spPr>
          <a:xfrm>
            <a:off x="-853440" y="6362700"/>
            <a:ext cx="138988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analysis based on 300,153 flight records across Indian cities (2026)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620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790700"/>
            <a:ext cx="3708350" cy="3505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9812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363" y="2085975"/>
            <a:ext cx="23812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26479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321945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37909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4610100"/>
            <a:ext cx="3327350" cy="495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1750" y="1790700"/>
            <a:ext cx="3708350" cy="3505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2250" y="19812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5125" y="2085975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2250" y="264795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2250" y="32194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2250" y="37909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2250" y="4610100"/>
            <a:ext cx="3327350" cy="495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78701" y="1790700"/>
            <a:ext cx="3708499" cy="3505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69201" y="1981200"/>
            <a:ext cx="476250" cy="4762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88263" y="2085975"/>
            <a:ext cx="238125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69201" y="264795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69201" y="321945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69201" y="379095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69201" y="4800600"/>
            <a:ext cx="3327499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4800" y="5524500"/>
            <a:ext cx="11582400" cy="8763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3400" y="6076950"/>
            <a:ext cx="114300" cy="1143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92501" y="6076950"/>
            <a:ext cx="114300" cy="1143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51602" y="6076950"/>
            <a:ext cx="114300" cy="1143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304800" y="304800"/>
            <a:ext cx="11582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Recommendations</a:t>
            </a:r>
            <a:endParaRPr lang="en-US" sz="2700" dirty="0"/>
          </a:p>
        </p:txBody>
      </p:sp>
      <p:sp>
        <p:nvSpPr>
          <p:cNvPr id="30" name="Text 1"/>
          <p:cNvSpPr/>
          <p:nvPr/>
        </p:nvSpPr>
        <p:spPr>
          <a:xfrm>
            <a:off x="304800" y="1028700"/>
            <a:ext cx="11582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Data-driven strategies to enhance airline operations based on comprehensive analysis of flight metrics, delays, and passenger experience indicators.</a:t>
            </a:r>
            <a:endParaRPr lang="en-US" sz="1350" dirty="0"/>
          </a:p>
        </p:txBody>
      </p:sp>
      <p:sp>
        <p:nvSpPr>
          <p:cNvPr id="31" name="Text 2"/>
          <p:cNvSpPr/>
          <p:nvPr/>
        </p:nvSpPr>
        <p:spPr>
          <a:xfrm>
            <a:off x="1085850" y="2085975"/>
            <a:ext cx="2826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 Efficiency</a:t>
            </a:r>
            <a:endParaRPr lang="en-US" sz="1500" dirty="0"/>
          </a:p>
        </p:txBody>
      </p:sp>
      <p:sp>
        <p:nvSpPr>
          <p:cNvPr id="32" name="Text 3"/>
          <p:cNvSpPr/>
          <p:nvPr/>
        </p:nvSpPr>
        <p:spPr>
          <a:xfrm>
            <a:off x="723900" y="2609850"/>
            <a:ext cx="3098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Optimize flight scheduling to minimize connection times</a:t>
            </a:r>
            <a:endParaRPr lang="en-US" sz="1200" dirty="0"/>
          </a:p>
        </p:txBody>
      </p:sp>
      <p:sp>
        <p:nvSpPr>
          <p:cNvPr id="33" name="Text 4"/>
          <p:cNvSpPr/>
          <p:nvPr/>
        </p:nvSpPr>
        <p:spPr>
          <a:xfrm>
            <a:off x="723900" y="3181350"/>
            <a:ext cx="3098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dynamic pricing strategies based on demand patterns</a:t>
            </a:r>
            <a:endParaRPr lang="en-US" sz="1200" dirty="0"/>
          </a:p>
        </p:txBody>
      </p:sp>
      <p:sp>
        <p:nvSpPr>
          <p:cNvPr id="34" name="Text 5"/>
          <p:cNvSpPr/>
          <p:nvPr/>
        </p:nvSpPr>
        <p:spPr>
          <a:xfrm>
            <a:off x="723900" y="3752850"/>
            <a:ext cx="3098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Review fuel efficiency protocols for long-haul flights</a:t>
            </a:r>
            <a:endParaRPr lang="en-US" sz="1200" dirty="0"/>
          </a:p>
        </p:txBody>
      </p:sp>
      <p:sp>
        <p:nvSpPr>
          <p:cNvPr id="35" name="Text 6"/>
          <p:cNvSpPr/>
          <p:nvPr/>
        </p:nvSpPr>
        <p:spPr>
          <a:xfrm>
            <a:off x="495300" y="4724400"/>
            <a:ext cx="33273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Based on duration (avg: 12.22 hours) and price analysis</a:t>
            </a:r>
            <a:endParaRPr lang="en-US" sz="1400" dirty="0"/>
          </a:p>
        </p:txBody>
      </p:sp>
      <p:sp>
        <p:nvSpPr>
          <p:cNvPr id="36" name="Text 7"/>
          <p:cNvSpPr/>
          <p:nvPr/>
        </p:nvSpPr>
        <p:spPr>
          <a:xfrm>
            <a:off x="5022800" y="2085975"/>
            <a:ext cx="211794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7F5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Delay Mitigation</a:t>
            </a:r>
            <a:endParaRPr lang="en-US" sz="1500" dirty="0"/>
          </a:p>
        </p:txBody>
      </p:sp>
      <p:sp>
        <p:nvSpPr>
          <p:cNvPr id="37" name="Text 8"/>
          <p:cNvSpPr/>
          <p:nvPr/>
        </p:nvSpPr>
        <p:spPr>
          <a:xfrm>
            <a:off x="4660850" y="2609850"/>
            <a:ext cx="3098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 weather delay contingency plans</a:t>
            </a:r>
            <a:endParaRPr lang="en-US" sz="1200" dirty="0"/>
          </a:p>
        </p:txBody>
      </p:sp>
      <p:sp>
        <p:nvSpPr>
          <p:cNvPr id="38" name="Text 9"/>
          <p:cNvSpPr/>
          <p:nvPr/>
        </p:nvSpPr>
        <p:spPr>
          <a:xfrm>
            <a:off x="4660850" y="3181350"/>
            <a:ext cx="3098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NAS delay reduction protocols</a:t>
            </a:r>
            <a:endParaRPr lang="en-US" sz="1200" dirty="0"/>
          </a:p>
        </p:txBody>
      </p:sp>
      <p:sp>
        <p:nvSpPr>
          <p:cNvPr id="39" name="Text 10"/>
          <p:cNvSpPr/>
          <p:nvPr/>
        </p:nvSpPr>
        <p:spPr>
          <a:xfrm>
            <a:off x="4660850" y="3752850"/>
            <a:ext cx="3098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Address security delays through streamlined procedures</a:t>
            </a:r>
            <a:endParaRPr lang="en-US" sz="1200" dirty="0"/>
          </a:p>
        </p:txBody>
      </p:sp>
      <p:sp>
        <p:nvSpPr>
          <p:cNvPr id="40" name="Text 11"/>
          <p:cNvSpPr/>
          <p:nvPr/>
        </p:nvSpPr>
        <p:spPr>
          <a:xfrm>
            <a:off x="4432250" y="4724400"/>
            <a:ext cx="33273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Based on delay analysis (avg: 43-44 minutes delay)</a:t>
            </a:r>
            <a:endParaRPr lang="en-US" sz="1400" dirty="0"/>
          </a:p>
        </p:txBody>
      </p:sp>
      <p:sp>
        <p:nvSpPr>
          <p:cNvPr id="41" name="Text 12"/>
          <p:cNvSpPr/>
          <p:nvPr/>
        </p:nvSpPr>
        <p:spPr>
          <a:xfrm>
            <a:off x="8959751" y="2085975"/>
            <a:ext cx="28383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Passenger Experience</a:t>
            </a:r>
            <a:endParaRPr lang="en-US" sz="1500" dirty="0"/>
          </a:p>
        </p:txBody>
      </p:sp>
      <p:sp>
        <p:nvSpPr>
          <p:cNvPr id="42" name="Text 13"/>
          <p:cNvSpPr/>
          <p:nvPr/>
        </p:nvSpPr>
        <p:spPr>
          <a:xfrm>
            <a:off x="8597801" y="2609850"/>
            <a:ext cx="309889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 business class offerings to justify premium pricing</a:t>
            </a:r>
            <a:endParaRPr lang="en-US" sz="1200" dirty="0"/>
          </a:p>
        </p:txBody>
      </p:sp>
      <p:sp>
        <p:nvSpPr>
          <p:cNvPr id="43" name="Text 14"/>
          <p:cNvSpPr/>
          <p:nvPr/>
        </p:nvSpPr>
        <p:spPr>
          <a:xfrm>
            <a:off x="8597801" y="3181350"/>
            <a:ext cx="309889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 on-time performance to enhance customer satisfaction</a:t>
            </a:r>
            <a:endParaRPr lang="en-US" sz="1200" dirty="0"/>
          </a:p>
        </p:txBody>
      </p:sp>
      <p:sp>
        <p:nvSpPr>
          <p:cNvPr id="44" name="Text 15"/>
          <p:cNvSpPr/>
          <p:nvPr/>
        </p:nvSpPr>
        <p:spPr>
          <a:xfrm>
            <a:off x="8597801" y="3752850"/>
            <a:ext cx="309889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Optimize stopover durations for better connection experiences</a:t>
            </a:r>
            <a:endParaRPr lang="en-US" sz="1200" dirty="0"/>
          </a:p>
        </p:txBody>
      </p:sp>
      <p:sp>
        <p:nvSpPr>
          <p:cNvPr id="45" name="Text 16"/>
          <p:cNvSpPr/>
          <p:nvPr/>
        </p:nvSpPr>
        <p:spPr>
          <a:xfrm>
            <a:off x="8369201" y="4914900"/>
            <a:ext cx="39929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Based on price analysis (avg: ₹20,889)</a:t>
            </a:r>
            <a:endParaRPr lang="en-US" sz="1400" dirty="0"/>
          </a:p>
        </p:txBody>
      </p:sp>
      <p:sp>
        <p:nvSpPr>
          <p:cNvPr id="46" name="Text 17"/>
          <p:cNvSpPr/>
          <p:nvPr/>
        </p:nvSpPr>
        <p:spPr>
          <a:xfrm>
            <a:off x="457200" y="56769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Implementation Priority</a:t>
            </a:r>
            <a:endParaRPr lang="en-US" sz="1350" dirty="0"/>
          </a:p>
        </p:txBody>
      </p:sp>
      <p:sp>
        <p:nvSpPr>
          <p:cNvPr id="47" name="Text 18"/>
          <p:cNvSpPr/>
          <p:nvPr/>
        </p:nvSpPr>
        <p:spPr>
          <a:xfrm>
            <a:off x="723900" y="6019800"/>
            <a:ext cx="25342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Immediate (Next 3 months)</a:t>
            </a:r>
            <a:endParaRPr lang="en-US" sz="1200" dirty="0"/>
          </a:p>
        </p:txBody>
      </p:sp>
      <p:sp>
        <p:nvSpPr>
          <p:cNvPr id="48" name="Text 19"/>
          <p:cNvSpPr/>
          <p:nvPr/>
        </p:nvSpPr>
        <p:spPr>
          <a:xfrm>
            <a:off x="4483001" y="6019800"/>
            <a:ext cx="22958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Medium-term (6 months)</a:t>
            </a:r>
            <a:endParaRPr lang="en-US" sz="1200" dirty="0"/>
          </a:p>
        </p:txBody>
      </p:sp>
      <p:sp>
        <p:nvSpPr>
          <p:cNvPr id="49" name="Text 20"/>
          <p:cNvSpPr/>
          <p:nvPr/>
        </p:nvSpPr>
        <p:spPr>
          <a:xfrm>
            <a:off x="8242102" y="6019800"/>
            <a:ext cx="227671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Long-term (12+ months)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6C876918-01FB-8A99-35B5-E5E22F0F6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8131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B82366-FC61-4455-CB96-870785ACE491}"/>
              </a:ext>
            </a:extLst>
          </p:cNvPr>
          <p:cNvSpPr txBox="1"/>
          <p:nvPr/>
        </p:nvSpPr>
        <p:spPr>
          <a:xfrm>
            <a:off x="184032" y="238527"/>
            <a:ext cx="61635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IN" sz="2800" b="1" dirty="0">
                <a:latin typeface="ui-sans-serif"/>
              </a:rPr>
              <a:t>Conclusion</a:t>
            </a:r>
            <a:endParaRPr lang="en-US" sz="2700" b="1" dirty="0">
              <a:latin typeface="ui-sans-serif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C2FBFD49-C939-DF36-569B-0D9B80872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07" y="715581"/>
            <a:ext cx="1219200" cy="38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D71CCD-63BD-7D1C-38E4-434A515D9877}"/>
              </a:ext>
            </a:extLst>
          </p:cNvPr>
          <p:cNvSpPr txBox="1"/>
          <p:nvPr/>
        </p:nvSpPr>
        <p:spPr>
          <a:xfrm>
            <a:off x="595221" y="1115084"/>
            <a:ext cx="1061049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ui-sans-serif"/>
              </a:rPr>
              <a:t>This analysis of over </a:t>
            </a:r>
            <a:r>
              <a:rPr lang="en-US" sz="2000" b="1" dirty="0">
                <a:latin typeface="ui-sans-serif"/>
              </a:rPr>
              <a:t>300,153 flight records across Indian cities</a:t>
            </a:r>
            <a:r>
              <a:rPr lang="en-US" sz="2000" dirty="0">
                <a:latin typeface="ui-sans-serif"/>
              </a:rPr>
              <a:t> reveals clear operational patterns in duration, pricing, and delays.</a:t>
            </a:r>
          </a:p>
          <a:p>
            <a:pPr>
              <a:buNone/>
            </a:pPr>
            <a:endParaRPr lang="en-US" sz="2000" dirty="0">
              <a:latin typeface="ui-sans-serif"/>
            </a:endParaRPr>
          </a:p>
          <a:p>
            <a:pPr>
              <a:buNone/>
            </a:pPr>
            <a:r>
              <a:rPr lang="en-US" sz="2000" b="1" u="sng" dirty="0">
                <a:latin typeface="ui-sans-serif"/>
              </a:rPr>
              <a:t>The findings show that:</a:t>
            </a:r>
          </a:p>
          <a:p>
            <a:pPr>
              <a:buNone/>
            </a:pPr>
            <a:endParaRPr lang="en-US" sz="2000" dirty="0">
              <a:latin typeface="ui-sans-serif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latin typeface="ui-sans-serif"/>
              </a:rPr>
              <a:t>Delays are a persistent operational challenge</a:t>
            </a:r>
            <a:r>
              <a:rPr lang="en-US" sz="2000" dirty="0">
                <a:latin typeface="ui-sans-serif"/>
              </a:rPr>
              <a:t>, with average departure and arrival delays of ~43 minutes.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latin typeface="ui-sans-serif"/>
              </a:rPr>
              <a:t>Carrier and NAS delays</a:t>
            </a:r>
            <a:r>
              <a:rPr lang="en-US" sz="2000" dirty="0">
                <a:latin typeface="ui-sans-serif"/>
              </a:rPr>
              <a:t> contribute more significantly than weather on average, though extreme weather events cause severe outliers.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latin typeface="ui-sans-serif"/>
              </a:rPr>
              <a:t>Pricing varies widely</a:t>
            </a:r>
            <a:r>
              <a:rPr lang="en-US" sz="2000" dirty="0">
                <a:latin typeface="ui-sans-serif"/>
              </a:rPr>
              <a:t> across routes and classes, reflecting diverse market positioning and demand dynamics.</a:t>
            </a:r>
          </a:p>
          <a:p>
            <a:pPr lvl="1"/>
            <a:endParaRPr lang="en-US" sz="2000" dirty="0">
              <a:latin typeface="ui-sans-serif"/>
            </a:endParaRPr>
          </a:p>
          <a:p>
            <a:pPr>
              <a:buNone/>
            </a:pPr>
            <a:r>
              <a:rPr lang="en-US" sz="2000" dirty="0">
                <a:latin typeface="ui-sans-serif"/>
              </a:rPr>
              <a:t> Overall, the study highlights the need for </a:t>
            </a:r>
            <a:r>
              <a:rPr lang="en-US" sz="2000" b="1" dirty="0">
                <a:latin typeface="ui-sans-serif"/>
              </a:rPr>
              <a:t>data-driven scheduling, delay mitigation strategies, and passenger-centric service improvements</a:t>
            </a:r>
            <a:r>
              <a:rPr lang="en-US" sz="2000" dirty="0">
                <a:latin typeface="ui-sans-serif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428726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4E1A7B26-970A-5F9E-8F7A-DCC744838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E27BA2-06F3-575B-B9E9-E6D28AF4F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12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1025</Words>
  <Application>Microsoft Office PowerPoint</Application>
  <PresentationFormat>Widescreen</PresentationFormat>
  <Paragraphs>208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ui-sans-serif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palakala rishik</cp:lastModifiedBy>
  <cp:revision>1</cp:revision>
  <dcterms:created xsi:type="dcterms:W3CDTF">2026-01-03T07:24:21Z</dcterms:created>
  <dcterms:modified xsi:type="dcterms:W3CDTF">2026-01-06T13:48:08Z</dcterms:modified>
</cp:coreProperties>
</file>