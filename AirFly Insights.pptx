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17" r:id="rId4"/>
  </p:sldMasterIdLst>
  <p:notesMasterIdLst>
    <p:notesMasterId r:id="rId21"/>
  </p:notesMasterIdLst>
  <p:handoutMasterIdLst>
    <p:handoutMasterId r:id="rId22"/>
  </p:handoutMasterIdLst>
  <p:sldIdLst>
    <p:sldId id="258" r:id="rId5"/>
    <p:sldId id="284" r:id="rId6"/>
    <p:sldId id="279" r:id="rId7"/>
    <p:sldId id="261" r:id="rId8"/>
    <p:sldId id="286" r:id="rId9"/>
    <p:sldId id="262" r:id="rId10"/>
    <p:sldId id="263" r:id="rId11"/>
    <p:sldId id="264" r:id="rId12"/>
    <p:sldId id="287" r:id="rId13"/>
    <p:sldId id="266" r:id="rId14"/>
    <p:sldId id="267" r:id="rId15"/>
    <p:sldId id="268" r:id="rId16"/>
    <p:sldId id="269" r:id="rId17"/>
    <p:sldId id="270" r:id="rId18"/>
    <p:sldId id="273" r:id="rId19"/>
    <p:sldId id="29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39" autoAdjust="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50" d="100"/>
          <a:sy n="50" d="100"/>
        </p:scale>
        <p:origin x="3403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3AA0E9-8CD0-4A6E-A65E-A06028B83F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E2408B-C9AB-4665-AC99-B057BD0A43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1B215-531B-4869-BD98-BD3B1390B1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53F21-4D67-455D-8074-E9E6EC26FA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443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1/6/2026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0661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5981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04606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5333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2779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45643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582665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66210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36012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37502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36879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004044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3171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D1D313A2-A4D4-40DF-A0C2-C29F641685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EFB0D-6DB6-450D-981E-DB5B064ABC8F}" type="datetime1">
              <a:rPr lang="en-US" noProof="0" smtClean="0"/>
              <a:t>1/6/2026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850" y="4508500"/>
            <a:ext cx="511810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850" y="2057400"/>
            <a:ext cx="5118100" cy="1929066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5400" b="1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270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élogramme 14">
            <a:extLst>
              <a:ext uri="{FF2B5EF4-FFF2-40B4-BE49-F238E27FC236}">
                <a16:creationId xmlns:a16="http://schemas.microsoft.com/office/drawing/2014/main" id="{F5AA8A10-E19C-430B-9D5D-8D12F92BFEC5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93D4F-3003-4D58-9AFB-356A0F800F42}"/>
              </a:ext>
            </a:extLst>
          </p:cNvPr>
          <p:cNvSpPr/>
          <p:nvPr userDrawn="1"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C8650-8C82-4FB0-9266-0148B376A8CE}" type="datetime1">
              <a:rPr lang="en-US" noProof="0" smtClean="0"/>
              <a:t>1/6/2026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6028FDE-6655-4B55-B3B4-5B366034E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9400" y="758952"/>
            <a:ext cx="4526280" cy="3227514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b="1" spc="-5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2171" y="4508500"/>
            <a:ext cx="452628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3E1BBA-670B-4CAE-B839-50ADB23DDBC6}"/>
              </a:ext>
            </a:extLst>
          </p:cNvPr>
          <p:cNvSpPr/>
          <p:nvPr userDrawn="1"/>
        </p:nvSpPr>
        <p:spPr>
          <a:xfrm>
            <a:off x="6311900" y="0"/>
            <a:ext cx="15392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39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DE01-3159-42E8-9946-B3F7564EBC72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7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élogramme 14">
            <a:extLst>
              <a:ext uri="{FF2B5EF4-FFF2-40B4-BE49-F238E27FC236}">
                <a16:creationId xmlns:a16="http://schemas.microsoft.com/office/drawing/2014/main" id="{98B82A56-7790-48EC-983D-AB8F703699B2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A1FC6A6-F894-471F-8AA4-AE4112290279}" type="datetime1">
              <a:rPr lang="en-US" noProof="0" smtClean="0"/>
              <a:t>1/6/2026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2451099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599" y="3746500"/>
            <a:ext cx="8331202" cy="130810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698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03D98FD-B63D-46E0-B974-EC5BBAC02E27}" type="datetime1">
              <a:rPr lang="en-US" noProof="0" smtClean="0"/>
              <a:t>1/6/2026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1735138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399" y="3746500"/>
            <a:ext cx="8331202" cy="1308100"/>
          </a:xfrm>
        </p:spPr>
        <p:txBody>
          <a:bodyPr anchor="b" anchorCtr="0">
            <a:noAutofit/>
          </a:bodyPr>
          <a:lstStyle>
            <a:lvl1pPr algn="ctr"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04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6489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ECCD-A9BB-4C40-8999-9FDE0B2AF02D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97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 algn="l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6731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395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1315-80A2-4A6F-99BC-2337EDBA509A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94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FCEE-D38D-4315-8661-B8B16CE6B114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1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élogramme 14">
            <a:extLst>
              <a:ext uri="{FF2B5EF4-FFF2-40B4-BE49-F238E27FC236}">
                <a16:creationId xmlns:a16="http://schemas.microsoft.com/office/drawing/2014/main" id="{AF082EE3-41AA-4817-A1CC-C33DDB8F675F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7909053-E1DD-4959-BC7A-C98D3D2614DC}" type="datetime1">
              <a:rPr lang="en-US" noProof="0" smtClean="0"/>
              <a:t>1/6/2026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1050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786383"/>
            <a:ext cx="3068833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800"/>
            <a:ext cx="5713841" cy="4868609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2200" y="3043050"/>
            <a:ext cx="3068832" cy="263835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139700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B9C849-F1D8-4230-9F2F-9250D675BB2A}" type="datetime1">
              <a:rPr lang="en-US" noProof="0" smtClean="0"/>
              <a:t>1/6/2026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5" name="Connecteur droit 19">
            <a:extLst>
              <a:ext uri="{FF2B5EF4-FFF2-40B4-BE49-F238E27FC236}">
                <a16:creationId xmlns:a16="http://schemas.microsoft.com/office/drawing/2014/main" id="{D84C14C5-D99C-45CD-8001-AC745F4FB49B}"/>
              </a:ext>
            </a:extLst>
          </p:cNvPr>
          <p:cNvCxnSpPr>
            <a:cxnSpLocks/>
          </p:cNvCxnSpPr>
          <p:nvPr userDrawn="1"/>
        </p:nvCxnSpPr>
        <p:spPr>
          <a:xfrm flipH="1">
            <a:off x="1092200" y="6446838"/>
            <a:ext cx="16434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9">
            <a:extLst>
              <a:ext uri="{FF2B5EF4-FFF2-40B4-BE49-F238E27FC236}">
                <a16:creationId xmlns:a16="http://schemas.microsoft.com/office/drawing/2014/main" id="{019842DD-D0AB-4E35-9AB2-7DBB6E266120}"/>
              </a:ext>
            </a:extLst>
          </p:cNvPr>
          <p:cNvCxnSpPr>
            <a:cxnSpLocks/>
          </p:cNvCxnSpPr>
          <p:nvPr userDrawn="1"/>
        </p:nvCxnSpPr>
        <p:spPr>
          <a:xfrm flipH="1">
            <a:off x="8420100" y="6429376"/>
            <a:ext cx="1000462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9">
            <a:extLst>
              <a:ext uri="{FF2B5EF4-FFF2-40B4-BE49-F238E27FC236}">
                <a16:creationId xmlns:a16="http://schemas.microsoft.com/office/drawing/2014/main" id="{832851A7-B301-4616-9843-9A0D06646DF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65675" y="6446838"/>
            <a:ext cx="407258" cy="635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208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B7022-84E8-42F0-8AEA-ADED76AFD446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2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2003424"/>
            <a:ext cx="1036320" cy="1857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D4C0741-442A-4788-81DA-4F081D559C5A}" type="datetime1">
              <a:rPr lang="en-US" noProof="0" smtClean="0"/>
              <a:t>1/6/2026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C7DA98-7B92-4F45-80F8-1AEF72A601CF}"/>
              </a:ext>
            </a:extLst>
          </p:cNvPr>
          <p:cNvSpPr/>
          <p:nvPr userDrawn="1"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314700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96815B-4256-4CE0-9FCF-3A2967CF5792}"/>
              </a:ext>
            </a:extLst>
          </p:cNvPr>
          <p:cNvSpPr/>
          <p:nvPr userDrawn="1"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chemeClr val="tx2">
              <a:lumMod val="20000"/>
              <a:lumOff val="8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1282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70BDB9F-6784-464D-8ED7-29E60E2B21A9}" type="datetime1">
              <a:rPr lang="en-US" noProof="0" smtClean="0"/>
              <a:t>1/6/2026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54305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22" y="548355"/>
            <a:ext cx="6054846" cy="634336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833" y="1611313"/>
            <a:ext cx="6072099" cy="3755104"/>
          </a:xfrm>
        </p:spPr>
        <p:txBody>
          <a:bodyPr anchor="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A3ABBD-A00D-4624-9D57-736F5DDBFABC}" type="datetime1">
              <a:rPr lang="en-US" noProof="0" smtClean="0"/>
              <a:t>1/6/2026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1046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4148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8577" y="880375"/>
            <a:ext cx="6054846" cy="634336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6BF20AA-C418-460A-B9CF-8F3DD94C436D}" type="datetime1">
              <a:rPr lang="en-US" noProof="0" smtClean="0"/>
              <a:t>1/6/2026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446475-024F-4C71-99D3-501468ACAD11}"/>
              </a:ext>
            </a:extLst>
          </p:cNvPr>
          <p:cNvSpPr/>
          <p:nvPr userDrawn="1"/>
        </p:nvSpPr>
        <p:spPr>
          <a:xfrm>
            <a:off x="5577840" y="0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7602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373" y="943430"/>
            <a:ext cx="4699452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63F5CE0-F8B8-4EAA-822E-6451047E7D5F}" type="datetime1">
              <a:rPr lang="en-US" noProof="0" smtClean="0"/>
              <a:t>1/6/2026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73BF96-A07C-4AAA-A37F-65151BD22A70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12771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 userDrawn="1"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8529" y="943430"/>
            <a:ext cx="4654296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1F8AE65-7CE3-49A8-B2CC-A5A64E5730FA}" type="datetime1">
              <a:rPr lang="en-US" noProof="0" smtClean="0"/>
              <a:t>1/6/2026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27F28F-6C7B-471B-9839-EF88426C1976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861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/>
          </a:solidFill>
        </p:spPr>
        <p:txBody>
          <a:bodyPr lIns="457200" tIns="45720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 algn="ctr"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046700-360D-4474-9946-7580E8968658}" type="datetime1">
              <a:rPr lang="en-US" noProof="0" smtClean="0"/>
              <a:t>1/6/2026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A4DE4A-F8EF-47D5-8C37-A9021C2BB6A3}"/>
              </a:ext>
            </a:extLst>
          </p:cNvPr>
          <p:cNvSpPr/>
          <p:nvPr userDrawn="1"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8695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667F3-A942-43B7-9681-6435F4941075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040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46200"/>
            <a:ext cx="2448033" cy="4530725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2200" y="1346200"/>
            <a:ext cx="7480300" cy="4530723"/>
          </a:xfrm>
        </p:spPr>
        <p:txBody>
          <a:bodyPr vert="eaVert" lIns="45720" tIns="0" rIns="45720" bIns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76BB9-001A-4B59-8C51-603E71AE3226}" type="datetime1">
              <a:rPr lang="en-US" noProof="0" smtClean="0"/>
              <a:t>1/6/2026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443CC6-CDCA-4595-ADAE-DCB961FF1A8E}"/>
              </a:ext>
            </a:extLst>
          </p:cNvPr>
          <p:cNvSpPr/>
          <p:nvPr userDrawn="1"/>
        </p:nvSpPr>
        <p:spPr>
          <a:xfrm rot="16200000">
            <a:off x="8871481" y="-14658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068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élogramme 14">
            <a:extLst>
              <a:ext uri="{FF2B5EF4-FFF2-40B4-BE49-F238E27FC236}">
                <a16:creationId xmlns:a16="http://schemas.microsoft.com/office/drawing/2014/main" id="{D20796F3-5674-4AF5-9623-575731F82E52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6548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10F8E8D-DF54-49BE-BDBC-401B280C4E3C}" type="datetime1">
              <a:rPr lang="en-US" noProof="0" smtClean="0"/>
              <a:t>1/6/2026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25E55C-1C16-46C6-B789-A4B2BCEF8F86}"/>
              </a:ext>
            </a:extLst>
          </p:cNvPr>
          <p:cNvSpPr/>
          <p:nvPr userDrawn="1"/>
        </p:nvSpPr>
        <p:spPr>
          <a:xfrm>
            <a:off x="0" y="1011981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028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18" r:id="rId2"/>
    <p:sldLayoutId id="2147483707" r:id="rId3"/>
    <p:sldLayoutId id="2147483708" r:id="rId4"/>
    <p:sldLayoutId id="2147483719" r:id="rId5"/>
    <p:sldLayoutId id="2147483709" r:id="rId6"/>
    <p:sldLayoutId id="2147483716" r:id="rId7"/>
    <p:sldLayoutId id="2147483710" r:id="rId8"/>
    <p:sldLayoutId id="2147483711" r:id="rId9"/>
    <p:sldLayoutId id="2147483712" r:id="rId10"/>
    <p:sldLayoutId id="2147483727" r:id="rId11"/>
    <p:sldLayoutId id="2147483720" r:id="rId12"/>
    <p:sldLayoutId id="2147483721" r:id="rId13"/>
    <p:sldLayoutId id="2147483725" r:id="rId14"/>
    <p:sldLayoutId id="2147483726" r:id="rId15"/>
    <p:sldLayoutId id="2147483722" r:id="rId16"/>
    <p:sldLayoutId id="2147483723" r:id="rId17"/>
    <p:sldLayoutId id="2147483715" r:id="rId18"/>
    <p:sldLayoutId id="2147483713" r:id="rId19"/>
    <p:sldLayoutId id="2147483714" r:id="rId2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50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 userDrawn="1">
          <p15:clr>
            <a:srgbClr val="F26B43"/>
          </p15:clr>
        </p15:guide>
        <p15:guide id="2" pos="688" userDrawn="1">
          <p15:clr>
            <a:srgbClr val="F26B43"/>
          </p15:clr>
        </p15:guide>
        <p15:guide id="3" pos="7038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kaggle.com/datasets/patrickzel/flight-delay-and-cancellation-dataset-2019-2023/data?select=flights_sample_3m.csv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17FF9C-6A7E-4A79-81BB-438E8EA967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6428" y="758952"/>
            <a:ext cx="5214257" cy="3227514"/>
          </a:xfrm>
        </p:spPr>
        <p:txBody>
          <a:bodyPr/>
          <a:lstStyle/>
          <a:p>
            <a:r>
              <a:rPr lang="en-IN" dirty="0" err="1"/>
              <a:t>AirFly</a:t>
            </a:r>
            <a:r>
              <a:rPr lang="en-IN" dirty="0"/>
              <a:t> Insights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FB5E3C-FE17-44EA-B59B-183125D08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9917" y="6099048"/>
            <a:ext cx="3959629" cy="905329"/>
          </a:xfrm>
        </p:spPr>
        <p:txBody>
          <a:bodyPr>
            <a:normAutofit fontScale="47500" lnSpcReduction="20000"/>
          </a:bodyPr>
          <a:lstStyle/>
          <a:p>
            <a:r>
              <a:rPr lang="en-US" sz="2500" dirty="0"/>
              <a:t>Mentor – Rahul Yadav                           </a:t>
            </a:r>
          </a:p>
          <a:p>
            <a:endParaRPr lang="en-US" dirty="0"/>
          </a:p>
          <a:p>
            <a:r>
              <a:rPr lang="en-US" dirty="0">
                <a:latin typeface="+mj-lt"/>
              </a:rPr>
              <a:t> 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0B78C70-153F-4C7F-9562-293B993EC4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1028" name="Picture 4" descr="Directly Below View of a Commercial Airplane Flying against the Sky · Free  Stock Photo">
            <a:extLst>
              <a:ext uri="{FF2B5EF4-FFF2-40B4-BE49-F238E27FC236}">
                <a16:creationId xmlns:a16="http://schemas.microsoft.com/office/drawing/2014/main" id="{DA55A10C-6CC2-4FCD-9432-2B21CB384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646803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fosys springboard | NSCET">
            <a:extLst>
              <a:ext uri="{FF2B5EF4-FFF2-40B4-BE49-F238E27FC236}">
                <a16:creationId xmlns:a16="http://schemas.microsoft.com/office/drawing/2014/main" id="{5485F14F-CB41-4F73-9BCE-8E5584B0C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5038" y="175599"/>
            <a:ext cx="2381250" cy="14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ubtitle 3">
            <a:extLst>
              <a:ext uri="{FF2B5EF4-FFF2-40B4-BE49-F238E27FC236}">
                <a16:creationId xmlns:a16="http://schemas.microsoft.com/office/drawing/2014/main" id="{4AADB3FF-7513-4AFB-8730-85BB82A80CAA}"/>
              </a:ext>
            </a:extLst>
          </p:cNvPr>
          <p:cNvSpPr txBox="1">
            <a:spLocks/>
          </p:cNvSpPr>
          <p:nvPr/>
        </p:nvSpPr>
        <p:spPr>
          <a:xfrm>
            <a:off x="8129916" y="6405335"/>
            <a:ext cx="3959629" cy="905329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 sz="2400" kern="1200" cap="all" spc="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Presented By - Diya Goyal                          </a:t>
            </a:r>
          </a:p>
          <a:p>
            <a:endParaRPr lang="en-US" dirty="0"/>
          </a:p>
          <a:p>
            <a:r>
              <a:rPr lang="en-US" dirty="0">
                <a:latin typeface="+mj-lt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617674-C35E-49DC-B11B-CF8D254124B2}"/>
              </a:ext>
            </a:extLst>
          </p:cNvPr>
          <p:cNvSpPr/>
          <p:nvPr/>
        </p:nvSpPr>
        <p:spPr>
          <a:xfrm>
            <a:off x="7308288" y="396890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Visualizations and Analysis of Operation</a:t>
            </a:r>
          </a:p>
        </p:txBody>
      </p:sp>
    </p:spTree>
    <p:extLst>
      <p:ext uri="{BB962C8B-B14F-4D97-AF65-F5344CB8AC3E}">
        <p14:creationId xmlns:p14="http://schemas.microsoft.com/office/powerpoint/2010/main" val="4172296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FC70B0-5D08-4BDC-852E-3FD7214DA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206"/>
            <a:ext cx="5844988" cy="7478806"/>
          </a:xfrm>
        </p:spPr>
        <p:txBody>
          <a:bodyPr numCol="2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IN" b="1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/>
              <a:t>What data is </a:t>
            </a:r>
            <a:r>
              <a:rPr lang="en-IN" b="1" dirty="0" err="1"/>
              <a:t>analyzed</a:t>
            </a:r>
            <a:r>
              <a:rPr lang="en-IN" b="1" dirty="0"/>
              <a:t>?</a:t>
            </a:r>
          </a:p>
          <a:p>
            <a:r>
              <a:rPr lang="en-US" dirty="0"/>
              <a:t>Airline Delay &amp; Cancellation Analysis (2019–2023)</a:t>
            </a:r>
            <a:endParaRPr lang="en-US" sz="1800" dirty="0"/>
          </a:p>
          <a:p>
            <a:r>
              <a:rPr lang="en-US" dirty="0"/>
              <a:t>US Airline Operations Data </a:t>
            </a:r>
          </a:p>
          <a:p>
            <a:r>
              <a:rPr lang="en-US" dirty="0"/>
              <a:t>DOT / Bureau of Transportation Statistics from Kaggle</a:t>
            </a:r>
          </a:p>
          <a:p>
            <a:r>
              <a:rPr lang="en-US" dirty="0"/>
              <a:t>Dataset Link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https://www.kaggle.com/datasets/patrickzel/flight-delay-and-cancellation-dataset-2019-2023/data?select=flights_sample_3m.csv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53340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latin typeface="+mj-lt"/>
            </a:endParaRPr>
          </a:p>
          <a:p>
            <a:pPr marL="53340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28" name="Rectangle 27" descr="Bar chart">
            <a:extLst>
              <a:ext uri="{FF2B5EF4-FFF2-40B4-BE49-F238E27FC236}">
                <a16:creationId xmlns:a16="http://schemas.microsoft.com/office/drawing/2014/main" id="{7810A56D-FB7B-429D-835B-7A0CD7BCB96A}"/>
              </a:ext>
            </a:extLst>
          </p:cNvPr>
          <p:cNvSpPr/>
          <p:nvPr/>
        </p:nvSpPr>
        <p:spPr>
          <a:xfrm>
            <a:off x="5596576" y="457854"/>
            <a:ext cx="499424" cy="499424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-332956"/>
              <a:satOff val="-147"/>
              <a:lumOff val="392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67318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D681D-B806-434D-8F8F-7B2685336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Key Features in the Dataset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3F5F368B-AED4-4339-98F1-30FFD3A305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652185"/>
            <a:ext cx="490390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Flight details: airline, origin, destination.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attributes: date, month, day, hour.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metrics: delays, cancellations.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Operational causes: weather, carrier, NAS.</a:t>
            </a:r>
          </a:p>
        </p:txBody>
      </p:sp>
    </p:spTree>
    <p:extLst>
      <p:ext uri="{BB962C8B-B14F-4D97-AF65-F5344CB8AC3E}">
        <p14:creationId xmlns:p14="http://schemas.microsoft.com/office/powerpoint/2010/main" val="2497512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91097BE-A044-49F5-B5CA-AE183B956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This Analysis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1E9392-71EA-4293-909F-1FE7DD38E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Delays impact passengers &amp; airlines.</a:t>
            </a:r>
          </a:p>
          <a:p>
            <a:r>
              <a:rPr lang="en-US" dirty="0"/>
              <a:t>Cancellations reflect operational stress.</a:t>
            </a:r>
          </a:p>
          <a:p>
            <a:r>
              <a:rPr lang="en-US" dirty="0"/>
              <a:t>Data helps understand real airline behavior</a:t>
            </a:r>
          </a:p>
        </p:txBody>
      </p:sp>
      <p:grpSp>
        <p:nvGrpSpPr>
          <p:cNvPr id="10" name="Group 9" descr="Info">
            <a:extLst>
              <a:ext uri="{FF2B5EF4-FFF2-40B4-BE49-F238E27FC236}">
                <a16:creationId xmlns:a16="http://schemas.microsoft.com/office/drawing/2014/main" id="{04EACC33-3BBF-4195-8927-841FEBB364AD}"/>
              </a:ext>
            </a:extLst>
          </p:cNvPr>
          <p:cNvGrpSpPr/>
          <p:nvPr/>
        </p:nvGrpSpPr>
        <p:grpSpPr>
          <a:xfrm>
            <a:off x="4637454" y="2530474"/>
            <a:ext cx="803276" cy="803276"/>
            <a:chOff x="4914764" y="3319462"/>
            <a:chExt cx="619125" cy="619125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00D0FC6-FE6C-422D-87EC-3F2A40F92771}"/>
                </a:ext>
              </a:extLst>
            </p:cNvPr>
            <p:cNvSpPr/>
            <p:nvPr/>
          </p:nvSpPr>
          <p:spPr>
            <a:xfrm>
              <a:off x="4914764" y="3319462"/>
              <a:ext cx="619125" cy="619125"/>
            </a:xfrm>
            <a:custGeom>
              <a:avLst/>
              <a:gdLst>
                <a:gd name="connsiteX0" fmla="*/ 309563 w 619125"/>
                <a:gd name="connsiteY0" fmla="*/ 0 h 619125"/>
                <a:gd name="connsiteX1" fmla="*/ 0 w 619125"/>
                <a:gd name="connsiteY1" fmla="*/ 309563 h 619125"/>
                <a:gd name="connsiteX2" fmla="*/ 309563 w 619125"/>
                <a:gd name="connsiteY2" fmla="*/ 619125 h 619125"/>
                <a:gd name="connsiteX3" fmla="*/ 619125 w 619125"/>
                <a:gd name="connsiteY3" fmla="*/ 309563 h 619125"/>
                <a:gd name="connsiteX4" fmla="*/ 309563 w 619125"/>
                <a:gd name="connsiteY4" fmla="*/ 0 h 619125"/>
                <a:gd name="connsiteX5" fmla="*/ 309563 w 619125"/>
                <a:gd name="connsiteY5" fmla="*/ 581025 h 619125"/>
                <a:gd name="connsiteX6" fmla="*/ 38100 w 619125"/>
                <a:gd name="connsiteY6" fmla="*/ 309563 h 619125"/>
                <a:gd name="connsiteX7" fmla="*/ 309563 w 619125"/>
                <a:gd name="connsiteY7" fmla="*/ 38100 h 619125"/>
                <a:gd name="connsiteX8" fmla="*/ 581025 w 619125"/>
                <a:gd name="connsiteY8" fmla="*/ 309563 h 619125"/>
                <a:gd name="connsiteX9" fmla="*/ 309563 w 619125"/>
                <a:gd name="connsiteY9" fmla="*/ 581025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09563" y="0"/>
                  </a:moveTo>
                  <a:cubicBezTo>
                    <a:pt x="138875" y="0"/>
                    <a:pt x="0" y="138865"/>
                    <a:pt x="0" y="309563"/>
                  </a:cubicBezTo>
                  <a:cubicBezTo>
                    <a:pt x="0" y="480260"/>
                    <a:pt x="138875" y="619125"/>
                    <a:pt x="309563" y="619125"/>
                  </a:cubicBezTo>
                  <a:cubicBezTo>
                    <a:pt x="480250" y="619125"/>
                    <a:pt x="619125" y="480260"/>
                    <a:pt x="619125" y="309563"/>
                  </a:cubicBezTo>
                  <a:cubicBezTo>
                    <a:pt x="619125" y="138865"/>
                    <a:pt x="480250" y="0"/>
                    <a:pt x="309563" y="0"/>
                  </a:cubicBezTo>
                  <a:close/>
                  <a:moveTo>
                    <a:pt x="309563" y="581025"/>
                  </a:moveTo>
                  <a:cubicBezTo>
                    <a:pt x="159877" y="581025"/>
                    <a:pt x="38100" y="459248"/>
                    <a:pt x="38100" y="309563"/>
                  </a:cubicBezTo>
                  <a:cubicBezTo>
                    <a:pt x="38100" y="159877"/>
                    <a:pt x="159877" y="38100"/>
                    <a:pt x="309563" y="38100"/>
                  </a:cubicBezTo>
                  <a:cubicBezTo>
                    <a:pt x="459248" y="38100"/>
                    <a:pt x="581025" y="159877"/>
                    <a:pt x="581025" y="309563"/>
                  </a:cubicBezTo>
                  <a:cubicBezTo>
                    <a:pt x="581025" y="459248"/>
                    <a:pt x="459248" y="581025"/>
                    <a:pt x="309563" y="5810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ADF13BE-BF58-43E3-9534-281EFDABF659}"/>
                </a:ext>
              </a:extLst>
            </p:cNvPr>
            <p:cNvSpPr/>
            <p:nvPr/>
          </p:nvSpPr>
          <p:spPr>
            <a:xfrm>
              <a:off x="5195751" y="3473729"/>
              <a:ext cx="57150" cy="57150"/>
            </a:xfrm>
            <a:custGeom>
              <a:avLst/>
              <a:gdLst>
                <a:gd name="connsiteX0" fmla="*/ 63722 w 57150"/>
                <a:gd name="connsiteY0" fmla="*/ 31861 h 57150"/>
                <a:gd name="connsiteX1" fmla="*/ 31861 w 57150"/>
                <a:gd name="connsiteY1" fmla="*/ 63722 h 57150"/>
                <a:gd name="connsiteX2" fmla="*/ 0 w 57150"/>
                <a:gd name="connsiteY2" fmla="*/ 31861 h 57150"/>
                <a:gd name="connsiteX3" fmla="*/ 31861 w 57150"/>
                <a:gd name="connsiteY3" fmla="*/ 0 h 57150"/>
                <a:gd name="connsiteX4" fmla="*/ 63722 w 57150"/>
                <a:gd name="connsiteY4" fmla="*/ 3186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63722" y="31861"/>
                  </a:moveTo>
                  <a:cubicBezTo>
                    <a:pt x="63722" y="49458"/>
                    <a:pt x="49458" y="63722"/>
                    <a:pt x="31861" y="63722"/>
                  </a:cubicBezTo>
                  <a:cubicBezTo>
                    <a:pt x="14265" y="63722"/>
                    <a:pt x="0" y="49458"/>
                    <a:pt x="0" y="31861"/>
                  </a:cubicBezTo>
                  <a:cubicBezTo>
                    <a:pt x="0" y="14265"/>
                    <a:pt x="14265" y="0"/>
                    <a:pt x="31861" y="0"/>
                  </a:cubicBezTo>
                  <a:cubicBezTo>
                    <a:pt x="49458" y="0"/>
                    <a:pt x="63722" y="14265"/>
                    <a:pt x="63722" y="31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14EC720-9A79-4D18-8746-AE0BDD325E79}"/>
                </a:ext>
              </a:extLst>
            </p:cNvPr>
            <p:cNvSpPr/>
            <p:nvPr/>
          </p:nvSpPr>
          <p:spPr>
            <a:xfrm>
              <a:off x="5205276" y="3589420"/>
              <a:ext cx="38100" cy="200025"/>
            </a:xfrm>
            <a:custGeom>
              <a:avLst/>
              <a:gdLst>
                <a:gd name="connsiteX0" fmla="*/ 19050 w 38100"/>
                <a:gd name="connsiteY0" fmla="*/ 0 h 200025"/>
                <a:gd name="connsiteX1" fmla="*/ 0 w 38100"/>
                <a:gd name="connsiteY1" fmla="*/ 19050 h 200025"/>
                <a:gd name="connsiteX2" fmla="*/ 0 w 38100"/>
                <a:gd name="connsiteY2" fmla="*/ 180975 h 200025"/>
                <a:gd name="connsiteX3" fmla="*/ 19050 w 38100"/>
                <a:gd name="connsiteY3" fmla="*/ 200025 h 200025"/>
                <a:gd name="connsiteX4" fmla="*/ 38100 w 38100"/>
                <a:gd name="connsiteY4" fmla="*/ 180975 h 200025"/>
                <a:gd name="connsiteX5" fmla="*/ 38100 w 38100"/>
                <a:gd name="connsiteY5" fmla="*/ 19050 h 200025"/>
                <a:gd name="connsiteX6" fmla="*/ 19050 w 38100"/>
                <a:gd name="connsiteY6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00025">
                  <a:moveTo>
                    <a:pt x="19050" y="0"/>
                  </a:moveTo>
                  <a:cubicBezTo>
                    <a:pt x="8534" y="0"/>
                    <a:pt x="0" y="8534"/>
                    <a:pt x="0" y="19050"/>
                  </a:cubicBezTo>
                  <a:lnTo>
                    <a:pt x="0" y="180975"/>
                  </a:lnTo>
                  <a:cubicBezTo>
                    <a:pt x="0" y="191491"/>
                    <a:pt x="8534" y="200025"/>
                    <a:pt x="19050" y="200025"/>
                  </a:cubicBezTo>
                  <a:cubicBezTo>
                    <a:pt x="29566" y="200025"/>
                    <a:pt x="38100" y="191491"/>
                    <a:pt x="38100" y="180975"/>
                  </a:cubicBezTo>
                  <a:lnTo>
                    <a:pt x="38100" y="19050"/>
                  </a:lnTo>
                  <a:cubicBezTo>
                    <a:pt x="38100" y="8525"/>
                    <a:pt x="29566" y="0"/>
                    <a:pt x="190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56707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dirty="0"/>
              <a:t>Data Cleaning &amp; Preparation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61D84B-C7FB-45A6-A213-EAAB44E05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How data was prepared:</a:t>
            </a:r>
          </a:p>
          <a:p>
            <a:pPr marL="0" indent="0">
              <a:buNone/>
            </a:pPr>
            <a:r>
              <a:rPr lang="en-IN" dirty="0"/>
              <a:t>(Week 1 and week 2)</a:t>
            </a:r>
          </a:p>
          <a:p>
            <a:pPr marL="0" indent="0">
              <a:buNone/>
            </a:pPr>
            <a:r>
              <a:rPr lang="en-US" dirty="0"/>
              <a:t>• Missing delays handled carefully: Missing delay values were treated in a way that avoids overestimating or underestimating delays, ensuring the analysis reflects actual flight behavior.</a:t>
            </a:r>
            <a:br>
              <a:rPr lang="en-US" dirty="0"/>
            </a:br>
            <a:r>
              <a:rPr lang="en-US" dirty="0"/>
              <a:t>• New features created (Month, Hour, Route): Additional features were derived to analyze seasonal patterns, time-of-day effects, and route-level performance more effectively.</a:t>
            </a:r>
            <a:br>
              <a:rPr lang="en-US" dirty="0"/>
            </a:br>
            <a:r>
              <a:rPr lang="en-US" dirty="0"/>
              <a:t>• Dates and time standardized: All date and time fields were converted into consistent formats to allow accurate time-based grouping and comparisons.</a:t>
            </a:r>
            <a:br>
              <a:rPr lang="en-US" dirty="0"/>
            </a:br>
            <a:r>
              <a:rPr lang="en-US" dirty="0"/>
              <a:t>• Data optimized for large-scale analysis: The dataset was structured and optimized to handle large volumes of flight data efficiently without affecting performance or accuracy.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6331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146B020-2B12-4533-AB98-A078339B3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098" y="279119"/>
            <a:ext cx="5983605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Flight Traffic Pattern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3BECB2B-2CFA-412C-880F-C4B609749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2903" y="1917852"/>
            <a:ext cx="5943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D22D53-586E-4F80-B549-03B4A942D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7509" y="1897380"/>
            <a:ext cx="5983606" cy="3760891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dirty="0"/>
              <a:t>When do flights operate most?</a:t>
            </a:r>
          </a:p>
          <a:p>
            <a:pPr marL="0" indent="0">
              <a:buNone/>
            </a:pPr>
            <a:r>
              <a:rPr lang="en-US" sz="2000" dirty="0"/>
              <a:t>• Flights are spread across years and some months have   less flights and some have more.</a:t>
            </a:r>
            <a:br>
              <a:rPr lang="en-US" sz="2000" dirty="0"/>
            </a:br>
            <a:r>
              <a:rPr lang="en-US" sz="2000" dirty="0"/>
              <a:t>• Monthly traffic shows seasonal pressure.</a:t>
            </a:r>
            <a:br>
              <a:rPr lang="en-US" sz="2000" dirty="0"/>
            </a:br>
            <a:r>
              <a:rPr lang="en-US" sz="2000" dirty="0"/>
              <a:t>• Useful baseline for delay analysis.</a:t>
            </a:r>
            <a:endParaRPr lang="en-US" sz="2000" dirty="0">
              <a:latin typeface="+mj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4AC5DA-C948-4F76-8EE4-E03BA64EA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217" y="3754797"/>
            <a:ext cx="7878274" cy="2772162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0146E3F-8D91-4098-9A89-B5AF990BB2DE}"/>
              </a:ext>
            </a:extLst>
          </p:cNvPr>
          <p:cNvCxnSpPr>
            <a:cxnSpLocks/>
          </p:cNvCxnSpPr>
          <p:nvPr/>
        </p:nvCxnSpPr>
        <p:spPr>
          <a:xfrm>
            <a:off x="444636" y="1907616"/>
            <a:ext cx="10715856" cy="204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676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146B020-2B12-4533-AB98-A078339B3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7" y="516836"/>
            <a:ext cx="3341887" cy="19602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</a:rPr>
              <a:t>Airline Delay </a:t>
            </a:r>
            <a:r>
              <a:rPr lang="en-US" sz="4800" dirty="0" err="1">
                <a:solidFill>
                  <a:schemeClr val="tx1"/>
                </a:solidFill>
              </a:rPr>
              <a:t>Comparsion</a:t>
            </a:r>
            <a:endParaRPr lang="en-US" sz="4800" dirty="0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A0A5CF6-407C-4691-8122-49DF69D00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0927" y="2633962"/>
            <a:ext cx="28346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D22D53-586E-4F80-B549-03B4A942D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790855"/>
            <a:ext cx="3084844" cy="3311766"/>
          </a:xfrm>
        </p:spPr>
        <p:txBody>
          <a:bodyPr vert="horz" lIns="0" tIns="45720" rIns="0" bIns="45720" rtlCol="0"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Do some airlines delay more?</a:t>
            </a:r>
          </a:p>
          <a:p>
            <a:r>
              <a:rPr lang="en-US" dirty="0"/>
              <a:t>Average delays compared airline-wise</a:t>
            </a:r>
          </a:p>
          <a:p>
            <a:r>
              <a:rPr lang="en-US" dirty="0"/>
              <a:t>No airline shows extreme deviation</a:t>
            </a:r>
          </a:p>
          <a:p>
            <a:r>
              <a:rPr lang="en-US" dirty="0"/>
              <a:t>Delays are system-level, not airline-specific</a:t>
            </a:r>
            <a:endParaRPr lang="en-US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27C5BA-477C-424F-9D08-532CE8453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891" y="101600"/>
            <a:ext cx="7754431" cy="627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224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6DB04AA-2B2C-4162-AD6D-1FF802682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392" y="125736"/>
            <a:ext cx="5983605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Delay Cause Analysis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3BECB2B-2CFA-412C-880F-C4B609749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2903" y="1917852"/>
            <a:ext cx="5943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CBAAA8-DE36-46A7-8728-72C3486FD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0391" y="1934787"/>
            <a:ext cx="5983606" cy="3760891"/>
          </a:xfrm>
        </p:spPr>
        <p:txBody>
          <a:bodyPr vert="horz" lIns="0" tIns="45720" rIns="0" bIns="45720" rtlCol="0">
            <a:normAutofit/>
          </a:bodyPr>
          <a:lstStyle/>
          <a:p>
            <a:pPr marL="430213" indent="-342900"/>
            <a:r>
              <a:rPr lang="en-US" dirty="0"/>
              <a:t>Carrier &amp; Late Aircraft delays dominate</a:t>
            </a:r>
          </a:p>
          <a:p>
            <a:pPr marL="430213" indent="-342900"/>
            <a:r>
              <a:rPr lang="en-US" dirty="0"/>
              <a:t>Weather is not the main driver</a:t>
            </a:r>
          </a:p>
          <a:p>
            <a:pPr marL="430213" indent="-342900"/>
            <a:r>
              <a:rPr lang="en-US" dirty="0"/>
              <a:t>Delays reflect congestion &amp; operations</a:t>
            </a:r>
            <a:endParaRPr lang="en-US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8EA555-EF13-402F-9A88-98E239636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532" y="3463967"/>
            <a:ext cx="9792715" cy="345805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A93864-7D0F-4781-BB93-4B5FCE132E3C}"/>
              </a:ext>
            </a:extLst>
          </p:cNvPr>
          <p:cNvCxnSpPr>
            <a:cxnSpLocks/>
          </p:cNvCxnSpPr>
          <p:nvPr/>
        </p:nvCxnSpPr>
        <p:spPr>
          <a:xfrm>
            <a:off x="444636" y="1907616"/>
            <a:ext cx="10715856" cy="204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897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DA682D-7AC5-48E0-993B-AB3F02735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509" y="248026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Delay by Time of Day</a:t>
            </a:r>
            <a:endParaRPr lang="en-I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624E1B-6DD0-434E-B49D-0DD3D624B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548" y="2108201"/>
            <a:ext cx="10058400" cy="3760891"/>
          </a:xfrm>
        </p:spPr>
        <p:txBody>
          <a:bodyPr/>
          <a:lstStyle/>
          <a:p>
            <a:r>
              <a:rPr lang="en-US" dirty="0"/>
              <a:t>Shows delay propagation effect</a:t>
            </a:r>
          </a:p>
          <a:p>
            <a:r>
              <a:rPr lang="en-US" dirty="0"/>
              <a:t>Morning flights have lower delays</a:t>
            </a:r>
          </a:p>
          <a:p>
            <a:r>
              <a:rPr lang="en-US" dirty="0"/>
              <a:t>Delays increase as day </a:t>
            </a:r>
            <a:r>
              <a:rPr lang="en-US" dirty="0" err="1"/>
              <a:t>progresse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E566A2-CC9C-448F-B519-F974A7F3F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836" y="3766256"/>
            <a:ext cx="7716327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54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8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7" name="Straight Connector 30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32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B72B13-069B-4F8A-9437-FA58C3F1D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27" y="-157298"/>
            <a:ext cx="3697683" cy="196023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Busiest Airport</a:t>
            </a:r>
          </a:p>
        </p:txBody>
      </p:sp>
      <p:cxnSp>
        <p:nvCxnSpPr>
          <p:cNvPr id="30" name="Straight Connector 34">
            <a:extLst>
              <a:ext uri="{FF2B5EF4-FFF2-40B4-BE49-F238E27FC236}">
                <a16:creationId xmlns:a16="http://schemas.microsoft.com/office/drawing/2014/main" id="{5A0A5CF6-407C-4691-8122-49DF69D00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0927" y="2633962"/>
            <a:ext cx="28346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81D70C-EE29-493E-838C-890184A02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738" y="2129281"/>
            <a:ext cx="3919972" cy="3311766"/>
          </a:xfrm>
        </p:spPr>
        <p:txBody>
          <a:bodyPr vert="horz" lIns="0" tIns="45720" rIns="0" bIns="45720" rtlCol="0">
            <a:normAutofit/>
          </a:bodyPr>
          <a:lstStyle/>
          <a:p>
            <a:pPr marL="0" indent="0">
              <a:buFont typeface="Calibri" panose="020F0502020204030204" pitchFamily="34" charset="0"/>
              <a:buNone/>
            </a:pPr>
            <a:r>
              <a:rPr lang="en-IN" dirty="0"/>
              <a:t>Where congestion is highest</a:t>
            </a:r>
            <a:endParaRPr lang="en-US" dirty="0">
              <a:latin typeface="+mj-lt"/>
            </a:endParaRPr>
          </a:p>
          <a:p>
            <a:r>
              <a:rPr lang="en-US" dirty="0"/>
              <a:t>Few airports handle most traffic.</a:t>
            </a:r>
          </a:p>
          <a:p>
            <a:r>
              <a:rPr lang="en-US" dirty="0"/>
              <a:t>High traffic ≠ high cancellation.</a:t>
            </a:r>
          </a:p>
          <a:p>
            <a:r>
              <a:rPr lang="en-US" dirty="0"/>
              <a:t>Efficient handling at major hubs</a:t>
            </a:r>
            <a:endParaRPr lang="en-US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778802-12BC-4C76-9F9A-41AC022B7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714" y="210234"/>
            <a:ext cx="7292075" cy="586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727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613E22E-01DB-414D-9831-64C0E2A8B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43060"/>
            <a:ext cx="10058400" cy="1450757"/>
          </a:xfrm>
        </p:spPr>
        <p:txBody>
          <a:bodyPr>
            <a:normAutofit/>
          </a:bodyPr>
          <a:lstStyle/>
          <a:p>
            <a:r>
              <a:rPr lang="en-IN" dirty="0"/>
              <a:t>Monthly Cancellation Trend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B0243E-8800-42D8-AEF7-9009E86D4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13" y="2039955"/>
            <a:ext cx="10058400" cy="376089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Do Cancellations increase seasonally?</a:t>
            </a:r>
            <a:endParaRPr lang="en-US" dirty="0"/>
          </a:p>
          <a:p>
            <a:r>
              <a:rPr lang="en-US" dirty="0"/>
              <a:t>Cancellation rate remains low overall.</a:t>
            </a:r>
          </a:p>
          <a:p>
            <a:r>
              <a:rPr lang="en-US" dirty="0"/>
              <a:t>Minor fluctuations across months.</a:t>
            </a:r>
          </a:p>
          <a:p>
            <a:r>
              <a:rPr lang="en-US" dirty="0"/>
              <a:t>Airlines prefer delays over cancellations.</a:t>
            </a:r>
          </a:p>
          <a:p>
            <a:r>
              <a:rPr lang="en-US" dirty="0"/>
              <a:t>Major cancellation was in the month of Aprils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52AFF8-2181-48A0-8B08-EF8D7A472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913" y="2039955"/>
            <a:ext cx="6877087" cy="404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056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5BA7203-E18A-4594-9991-EFE3B8E4D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Cancellation Reasons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E402EA-01C7-44A3-BC75-DED498BE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548" y="2108201"/>
            <a:ext cx="10058400" cy="376089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Why flights get cancelled?</a:t>
            </a:r>
            <a:endParaRPr lang="en-US" dirty="0"/>
          </a:p>
          <a:p>
            <a:r>
              <a:rPr lang="en-US" dirty="0"/>
              <a:t>Major reason for cancellation was Weather.</a:t>
            </a:r>
          </a:p>
          <a:p>
            <a:r>
              <a:rPr lang="en-US" dirty="0"/>
              <a:t>After weather security was another major reason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1BA03A-0FA0-4527-B166-90EA87BF0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08201"/>
            <a:ext cx="5201376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200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7CC78E1-629B-4981-BA25-E8F061C40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Seasonal Cancellation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8B9B89-5D57-4D13-B470-57D849D40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Does winter disrupt operations?</a:t>
            </a:r>
            <a:endParaRPr lang="en-US" dirty="0"/>
          </a:p>
          <a:p>
            <a:r>
              <a:rPr lang="en-US" dirty="0"/>
              <a:t>Spring shows the highest delays, likely due to volatile weather, increased travel, or operational factors, rather than winter conditions.</a:t>
            </a:r>
          </a:p>
          <a:p>
            <a:r>
              <a:rPr lang="en-US" dirty="0"/>
              <a:t>Average cancellation remains similar.</a:t>
            </a:r>
          </a:p>
          <a:p>
            <a:r>
              <a:rPr lang="en-US" dirty="0"/>
              <a:t>System absorbs stress via delays.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B02ED7-C646-4768-9778-10A0EDEED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057" y="3210560"/>
            <a:ext cx="5563376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8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2CC3EF0-F13E-468D-8198-2FFABAAB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43060"/>
            <a:ext cx="10058400" cy="1450757"/>
          </a:xfrm>
        </p:spPr>
        <p:txBody>
          <a:bodyPr/>
          <a:lstStyle/>
          <a:p>
            <a:r>
              <a:rPr lang="en-IN" dirty="0"/>
              <a:t>Key Insights</a:t>
            </a:r>
            <a:endParaRPr lang="en-US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C7F97C3F-D48F-469E-BE6C-0F074DA601D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980097" y="1880097"/>
            <a:ext cx="968683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Congestion impacts delays more than cancellations: </a:t>
            </a:r>
            <a:r>
              <a:rPr lang="en-US" sz="1800" dirty="0"/>
              <a:t>When traffic increases at airports and routes, airlines prefer to delay flights rather than cancel them. Delays help maintain schedules and connections, while cancellations create larger disruptions.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 impact is moderate: </a:t>
            </a:r>
            <a:r>
              <a:rPr lang="en-US" sz="1800" dirty="0"/>
              <a:t>Seasonal changes, such as winter months, do affect operations, but the overall impact is controlled. Cancellation rates remain stable with only small variations across months.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Cancellations are operationally distributed: </a:t>
            </a:r>
            <a:r>
              <a:rPr lang="en-US" sz="1800" dirty="0"/>
              <a:t>Cancellations are not driven by a single cause. They are spread across multiple factors like carrier issues, weather, and airspace constraints, indicating planned operational decisions.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47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2408148-307A-49CD-B792-9631633A9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8" y="516836"/>
            <a:ext cx="3100136" cy="196023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IN" sz="4000" dirty="0"/>
              <a:t>Conclusion</a:t>
            </a:r>
            <a:endParaRPr lang="en-US" sz="4000" dirty="0">
              <a:solidFill>
                <a:srgbClr val="314052"/>
              </a:solidFill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A0A5CF6-407C-4691-8122-49DF69D00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0927" y="2633962"/>
            <a:ext cx="28346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D16F5AB-A34F-4AEC-99FE-B5892AD21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120" y="2790855"/>
            <a:ext cx="4877915" cy="3311766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Visualization reveals stable airline operations.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Insights support data-driven decision-making.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Project demonstrates end-to-end analytical workflow.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Future scope: prediction models &amp; dashboards</a:t>
            </a:r>
            <a:endParaRPr lang="en-US" altLang="en-US" sz="1800" dirty="0">
              <a:solidFill>
                <a:schemeClr val="tx1"/>
              </a:solidFill>
            </a:endParaRPr>
          </a:p>
        </p:txBody>
      </p:sp>
      <p:pic>
        <p:nvPicPr>
          <p:cNvPr id="13" name="Picture Placeholder 12" descr="A large airplane flying high up in the air&#10;&#10;">
            <a:extLst>
              <a:ext uri="{FF2B5EF4-FFF2-40B4-BE49-F238E27FC236}">
                <a16:creationId xmlns:a16="http://schemas.microsoft.com/office/drawing/2014/main" id="{D7465B01-98C0-49B4-89B4-A4F1341745B4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-1"/>
          <a:stretch/>
        </p:blipFill>
        <p:spPr>
          <a:xfrm>
            <a:off x="5051035" y="0"/>
            <a:ext cx="7127506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405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65BF64-4B30-4125-9A30-A1B08C80E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9600" dirty="0">
                <a:solidFill>
                  <a:srgbClr val="FFFFFF"/>
                </a:solidFill>
                <a:latin typeface="+mj-lt"/>
              </a:rPr>
              <a:t>Thank you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305886-8ACA-4ED6-AA5B-215F6D741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051" y="5225240"/>
            <a:ext cx="10058400" cy="1143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cap="all" spc="200" dirty="0">
                <a:solidFill>
                  <a:srgbClr val="FFFFFF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12797136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 Company All Hands_Win32_MS v3" id="{1F352A5D-0EBE-49A2-9FF7-DEF81AB6F3C6}" vid="{D35781EA-2188-4D84-8966-791644CE13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0A2CB4-6869-426F-8BC4-A32C90CBE26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4E879E6-8FFE-4154-8F2A-F7518B89B37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A941CA7C-A0BF-44EF-B2E5-7539C3B9B0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 company all hands presentation</Template>
  <TotalTime>0</TotalTime>
  <Words>637</Words>
  <Application>Microsoft Office PowerPoint</Application>
  <PresentationFormat>Widescreen</PresentationFormat>
  <Paragraphs>99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RetrospectVTI</vt:lpstr>
      <vt:lpstr>AirFly Insights</vt:lpstr>
      <vt:lpstr>Dataset Overview</vt:lpstr>
      <vt:lpstr>Key Features in the Dataset</vt:lpstr>
      <vt:lpstr>Why This Analysis</vt:lpstr>
      <vt:lpstr>Data Cleaning &amp; Preparation</vt:lpstr>
      <vt:lpstr>Flight Traffic Pattern</vt:lpstr>
      <vt:lpstr>Airline Delay Comparsion</vt:lpstr>
      <vt:lpstr>Delay Cause Analysis</vt:lpstr>
      <vt:lpstr>Delay by Time of Day</vt:lpstr>
      <vt:lpstr>Busiest Airport</vt:lpstr>
      <vt:lpstr>Monthly Cancellation Trend</vt:lpstr>
      <vt:lpstr>Cancellation Reasons</vt:lpstr>
      <vt:lpstr>Seasonal Cancellation</vt:lpstr>
      <vt:lpstr>Key Insights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2026-01-05T16:34:30Z</dcterms:created>
  <dcterms:modified xsi:type="dcterms:W3CDTF">2026-01-06T14:55:56Z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