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72" r:id="rId3"/>
    <p:sldId id="273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F7AD2-5C73-9C26-12E5-8F993A67C3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EB5A57-979E-90E7-ECF4-4A5EC722AF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8BBD94-9D11-3159-37F9-5271C5DC4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75B28-6F15-4B67-8C07-FA4EB88F3BEB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C796DE-0FBE-4E39-F3DB-86E91349C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DEAAE-E26E-5A88-DEB7-86F63F859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0E982-F8BC-4284-88BB-1E5917E1CB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3435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33D52-34A1-A909-4BD3-2CD67DD6F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F7A38-DD3C-3624-BE87-5C7D1586C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B5C9BA-853A-EB88-024E-1CC80AE8C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75B28-6F15-4B67-8C07-FA4EB88F3BEB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61444F-7C18-294F-1653-F21C1C7F0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44334-DB52-4A43-709F-27766707E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0E982-F8BC-4284-88BB-1E5917E1CB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6589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66C94-72A4-44FF-173A-C3705232F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A9BC5B-7545-5C77-E342-85AC7E6378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FD557-EA3C-677E-15FC-FCFA303DD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75B28-6F15-4B67-8C07-FA4EB88F3BEB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03A4A-E6EC-8F29-532A-8367BC76B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0EEA7E-753A-8183-F7D9-28849ECFC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0E982-F8BC-4284-88BB-1E5917E1CB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3562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9C336-AFC0-956F-E1A4-05EC0FC2F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CE159-A758-1E11-B5DE-B9191613F1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3C447B-155C-616B-7F88-25781EE4DF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F8B09E-0DF6-29B3-0E19-038C7AD3A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75B28-6F15-4B67-8C07-FA4EB88F3BEB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FCC49B-CB27-C52E-6D2C-5D58F63BE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0A5DD7-8C24-6DF4-D449-C735D608A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0E982-F8BC-4284-88BB-1E5917E1CB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0847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6424E-1776-A20D-3C63-9877B80A4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3397FC-388E-0289-0D8D-832CC9082A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524F88-08DD-DE54-4E32-81299BB3D1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D3BB91-58AE-92C3-A772-692C84E977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29627E-8ECB-AE38-5071-140684C3A7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8F0850-2A4B-F140-043B-AA2C74C1F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75B28-6F15-4B67-8C07-FA4EB88F3BEB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D424EB-AF13-8971-4D31-1BCBBBF55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7AECD7-A317-388B-3A15-E7F315AE7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0E982-F8BC-4284-88BB-1E5917E1CB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2560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A5D5B-A77A-CB74-7E80-9D45F8EA4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305CC4-6870-53E8-A999-0D2255AED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75B28-6F15-4B67-8C07-FA4EB88F3BEB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6DEE48-EB7E-2A7D-7476-432020B95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863E12-3675-735F-D4EA-7B2CBB419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0E982-F8BC-4284-88BB-1E5917E1CB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6145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3B17E8-1BEA-A590-175E-7A6E17103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75B28-6F15-4B67-8C07-FA4EB88F3BEB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E7B75C-9B63-76E7-0C54-745E5C606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A184D9-43CE-8D6F-0F8A-1947ED365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0E982-F8BC-4284-88BB-1E5917E1CB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1590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6C063-55BF-74C0-3DF8-60BEBF92E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050A1-2ECE-A09D-B48D-4E2C75DBBD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E8F2FC-B013-9CB1-FD0A-9D50D66CAB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E614A4-24D7-73A4-DE4C-A9B0CA24C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75B28-6F15-4B67-8C07-FA4EB88F3BEB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64752-4D34-C65C-4704-CC44032B4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83CA3B-74FC-5E26-A722-BDC013876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0E982-F8BC-4284-88BB-1E5917E1CB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741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2058B-C7E2-E37A-1EBD-07114A55D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BB75B0-9D1F-8613-17DB-59521996E4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0E7164-4CBB-BA52-077E-47EC7F437F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81B977-609C-E8A5-7E1D-3AA6A999A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75B28-6F15-4B67-8C07-FA4EB88F3BEB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39B3AF-AEC8-02AB-3070-46EE012AD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216DDD-A9B3-1816-67CE-75E6E861F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0E982-F8BC-4284-88BB-1E5917E1CB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5740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3B514-1770-491A-E77E-39AA8B6EA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70637F-C399-39A0-CFD0-5B294C9340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9C0C5A-7530-0911-5C2F-20227A1B1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75B28-6F15-4B67-8C07-FA4EB88F3BEB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DE4D0-721E-C3EE-7EBC-51983D45E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E52FE-78CF-764A-25FE-54D5C3461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0E982-F8BC-4284-88BB-1E5917E1CB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700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97E6CA-A9DC-CF4B-0374-13C4702AF8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812542-E1D3-E706-8089-6C79EFC97A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08A8FC-5DEA-65A3-D65A-513FEFA0D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75B28-6F15-4B67-8C07-FA4EB88F3BEB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8815C5-1620-D534-43E7-27E5D7A49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AFE7B-F0C3-7CC2-837A-DFFC38699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0E982-F8BC-4284-88BB-1E5917E1CB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0790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3F39CA-DB75-6420-6360-F3CE83A58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FCA7BB-79B4-3281-E690-BAF0AFF538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69B4E7-651B-0651-731C-288CA66F99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D75B28-6F15-4B67-8C07-FA4EB88F3BEB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65254-9624-797A-A4FF-CB91DC7A17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536AD-1745-68C9-B158-B161332150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10E982-F8BC-4284-88BB-1E5917E1CB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204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en/photo/1363251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cpedia.org/highway-signs/o/objectives.html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3.0/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en/photo/1179028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deltanewshub/49534507017/" TargetMode="Externa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04CE9-BCB0-9078-399B-49D1ADC9D4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60" y="-47004"/>
            <a:ext cx="9704832" cy="2387600"/>
          </a:xfrm>
        </p:spPr>
        <p:txBody>
          <a:bodyPr>
            <a:normAutofit/>
          </a:bodyPr>
          <a:lstStyle/>
          <a:p>
            <a:r>
              <a:rPr lang="en-IN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AirFly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Insights: Data Visualization and Analysis of Airline Operations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41610E-F45A-3739-8A06-C06CCFE135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98172" y="2292669"/>
            <a:ext cx="9144000" cy="1655762"/>
          </a:xfrm>
        </p:spPr>
        <p:txBody>
          <a:bodyPr>
            <a:norm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Visualizations to Improve Reliability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BC4296-2A98-46E4-9D58-3788F74752B3}"/>
              </a:ext>
            </a:extLst>
          </p:cNvPr>
          <p:cNvSpPr txBox="1"/>
          <p:nvPr/>
        </p:nvSpPr>
        <p:spPr>
          <a:xfrm>
            <a:off x="1280160" y="4412016"/>
            <a:ext cx="272491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 Name:</a:t>
            </a:r>
          </a:p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Rahul Yadav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D0E0EE-7EEB-10C1-5B2C-86B22D893FB1}"/>
              </a:ext>
            </a:extLst>
          </p:cNvPr>
          <p:cNvSpPr txBox="1"/>
          <p:nvPr/>
        </p:nvSpPr>
        <p:spPr>
          <a:xfrm>
            <a:off x="9122137" y="4363260"/>
            <a:ext cx="249988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Erra Sanjana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EE466E-E3DE-777F-E6E3-4EE536A4DF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700914" y="3069604"/>
            <a:ext cx="5138515" cy="3000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035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72A1C-C0E6-32F3-DAE2-8C0B6DF35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823" y="92247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EA675-BD36-D054-1D2A-1E65EA3D1B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156549"/>
            <a:ext cx="9525000" cy="4351338"/>
          </a:xfrm>
        </p:spPr>
        <p:txBody>
          <a:bodyPr/>
          <a:lstStyle/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AirFly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Insights is a data visualization and analysis project focused on airline operations.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analyzes flight data to identify trends in flight volume, delays, and cancellations.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Python-based data analysis and visualization techniques are used to extract meaningful insights.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support data-driven decision-making for improving airline reliability.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5103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2A862-ED0B-596B-AA0A-B68CDDCDF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797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92565-7F6E-1181-D1D8-D6AD402E8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1709" y="2538798"/>
            <a:ext cx="5353594" cy="435133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airline flight volume and route distribution.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seasonal, weekly, and hourly flight patterns.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major causes of flight delays and cancellations.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actionable insights to improve operational efficiency.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0631E2-81CF-0201-9DFA-05D7CE213B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505303" y="2191638"/>
            <a:ext cx="4566463" cy="33310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E3A604F-34B1-A134-98EB-4B9DC2393085}"/>
              </a:ext>
            </a:extLst>
          </p:cNvPr>
          <p:cNvSpPr txBox="1"/>
          <p:nvPr/>
        </p:nvSpPr>
        <p:spPr>
          <a:xfrm>
            <a:off x="4302034" y="6858000"/>
            <a:ext cx="694390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3" tooltip="https://www.picpedia.org/highway-signs/o/objectives.html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4" tooltip="https://creativecommons.org/licenses/by-sa/3.0/"/>
              </a:rPr>
              <a:t>CC BY-SA</a:t>
            </a:r>
            <a:endParaRPr lang="en-IN" sz="900"/>
          </a:p>
        </p:txBody>
      </p:sp>
    </p:spTree>
    <p:extLst>
      <p:ext uri="{BB962C8B-B14F-4D97-AF65-F5344CB8AC3E}">
        <p14:creationId xmlns:p14="http://schemas.microsoft.com/office/powerpoint/2010/main" val="1516072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61038-AD84-0670-0BB9-8ABE7C809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616" y="45060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Executive Summary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F94C831-AF0B-BA78-42CF-D1AC4E4ABF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7616" y="1776165"/>
            <a:ext cx="10326624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analyzes airline flight operations data to understand patterns in flight volume, delays, and cancellations.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Flight activity is highly concentrated among a few major airlines, with peak demand during summer months and weekdays.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Morning flights show better on-time performance, while delays increase as the day progresses due to cumulative operational effects.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Weather and airline-related issues are the primary causes of delays and cancellations, impacting overall operational efficiency.</a:t>
            </a:r>
          </a:p>
        </p:txBody>
      </p:sp>
    </p:spTree>
    <p:extLst>
      <p:ext uri="{BB962C8B-B14F-4D97-AF65-F5344CB8AC3E}">
        <p14:creationId xmlns:p14="http://schemas.microsoft.com/office/powerpoint/2010/main" val="1206708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CCCAD-7FDE-720E-84ED-D8AC0669A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810" y="910301"/>
            <a:ext cx="6539103" cy="521128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Airline Volume Analysis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8ED65B7-8740-2325-9EEC-135411BEE6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9829" y="1683126"/>
            <a:ext cx="4434676" cy="4090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3B8490EC-1EE1-14DD-4FDC-883A732B6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250" y="2044427"/>
            <a:ext cx="5400295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Southwest Airlines (WN) operates the highest number of flights, indicating strong market dominance.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Delta (DL) and American Airlines (AA) follow, showing that a few major airlines control most flight operations.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Smaller carriers like Alaska (AS) and US Airways (US) operate significantly fewer flights, highlighting market concentration.</a:t>
            </a:r>
          </a:p>
        </p:txBody>
      </p:sp>
    </p:spTree>
    <p:extLst>
      <p:ext uri="{BB962C8B-B14F-4D97-AF65-F5344CB8AC3E}">
        <p14:creationId xmlns:p14="http://schemas.microsoft.com/office/powerpoint/2010/main" val="1193898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7998F-51E8-381B-66D8-5998E3863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1201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 Density Analysis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36055BD-A4B0-D822-D07E-81F8906B318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1549" y="1145171"/>
            <a:ext cx="476136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C0F75EF9-540C-4089-E97D-AB26E3BF9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882" y="1802593"/>
            <a:ext cx="4645785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busiest routes are primarily between major metropolitan hubs such as SFO–LAX, LAX–SFO, and JFK–LAX.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traffic is observed on both directions of the same routes, indicating strong two-way passenger demand.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high-density routes are more prone to congestion, increasing the likelihood of delays during peak hours.</a:t>
            </a:r>
          </a:p>
        </p:txBody>
      </p:sp>
    </p:spTree>
    <p:extLst>
      <p:ext uri="{BB962C8B-B14F-4D97-AF65-F5344CB8AC3E}">
        <p14:creationId xmlns:p14="http://schemas.microsoft.com/office/powerpoint/2010/main" val="1295281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4C90C-3C45-760B-8D87-8AB86BB6C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9627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Trends 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787F75C-6D1D-B866-80A7-52BE9E44DF3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2742" y="1609344"/>
            <a:ext cx="5068389" cy="4490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2EB7905-E8D0-8026-CFF5-C593B62CB364}"/>
              </a:ext>
            </a:extLst>
          </p:cNvPr>
          <p:cNvSpPr txBox="1"/>
          <p:nvPr/>
        </p:nvSpPr>
        <p:spPr>
          <a:xfrm>
            <a:off x="6728687" y="2245424"/>
            <a:ext cx="441742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Flight activity shows a clear seasonal pattern, with volumes increasing during the summer months.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July records the highest number of flights, indicating peak travel demand.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February has the lowest flight volume, reflecting off-season travel and reduced operations.</a:t>
            </a:r>
          </a:p>
        </p:txBody>
      </p:sp>
    </p:spTree>
    <p:extLst>
      <p:ext uri="{BB962C8B-B14F-4D97-AF65-F5344CB8AC3E}">
        <p14:creationId xmlns:p14="http://schemas.microsoft.com/office/powerpoint/2010/main" val="1187215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EFFFF-A33C-6946-2299-065BA30E9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4947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Weekly Flight Trends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D88E3C4F-03B3-CD76-338F-32C7BAF3D74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7133" y="1480457"/>
            <a:ext cx="5170833" cy="4561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9B5C8B0-725F-5EBD-E54B-69E50963F142}"/>
              </a:ext>
            </a:extLst>
          </p:cNvPr>
          <p:cNvSpPr txBox="1"/>
          <p:nvPr/>
        </p:nvSpPr>
        <p:spPr>
          <a:xfrm>
            <a:off x="1130205" y="2310510"/>
            <a:ext cx="441426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Flight activity is consistently higher on weekdays, with Thursday and Friday showing the highest volumes.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Saturday records the lowest number of flights, indicating reduced leisure and business travel.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weekday traffic leads to higher congestion and a greater risk of operational delays.</a:t>
            </a:r>
          </a:p>
        </p:txBody>
      </p:sp>
    </p:spTree>
    <p:extLst>
      <p:ext uri="{BB962C8B-B14F-4D97-AF65-F5344CB8AC3E}">
        <p14:creationId xmlns:p14="http://schemas.microsoft.com/office/powerpoint/2010/main" val="1526498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003B9-0DBD-C4A3-99AE-60F6C6A66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572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Hourly Trends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08320B81-F1B6-3CDC-BE59-EEE17A84EB7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165" y="1690688"/>
            <a:ext cx="5285242" cy="4160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53372E3-1AB7-C867-4551-94B60D4D6A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7022" y="2248882"/>
            <a:ext cx="4507774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Flight activity is minimal during late night and early morning hours.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Operational load peaks between 6 AM and 6 PM, indicating heavy daytime traffic.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flight concentration during peak hours increases congestion and contributes to delay propagation.</a:t>
            </a:r>
          </a:p>
        </p:txBody>
      </p:sp>
    </p:spTree>
    <p:extLst>
      <p:ext uri="{BB962C8B-B14F-4D97-AF65-F5344CB8AC3E}">
        <p14:creationId xmlns:p14="http://schemas.microsoft.com/office/powerpoint/2010/main" val="23128081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6A453-FACF-058F-ED32-F9BD08CEB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485" y="408668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 Cause Analysis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AB644D0D-44C0-E98B-8F96-EF43B4A7FC1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0538" y="1166513"/>
            <a:ext cx="5042261" cy="4649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4FE246-8F18-5E1D-41D0-E89807507E5A}"/>
              </a:ext>
            </a:extLst>
          </p:cNvPr>
          <p:cNvSpPr txBox="1"/>
          <p:nvPr/>
        </p:nvSpPr>
        <p:spPr>
          <a:xfrm>
            <a:off x="1055915" y="1631341"/>
            <a:ext cx="4439194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Airline-related delays contribute the highest average delay, indicating operational and scheduling inefficiencies.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 system delays are the second major contributor, reflecting congestion in air traffic management.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delays have the least average impact compared to operational factors.</a:t>
            </a:r>
          </a:p>
        </p:txBody>
      </p:sp>
    </p:spTree>
    <p:extLst>
      <p:ext uri="{BB962C8B-B14F-4D97-AF65-F5344CB8AC3E}">
        <p14:creationId xmlns:p14="http://schemas.microsoft.com/office/powerpoint/2010/main" val="1621431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CD814-C95E-894F-6C62-34DC25ACD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86" y="602172"/>
            <a:ext cx="10515600" cy="1325563"/>
          </a:xfrm>
        </p:spPr>
        <p:txBody>
          <a:bodyPr/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Airline-wise Comparison of Delay Causes</a:t>
            </a:r>
            <a:br>
              <a:rPr lang="en-US" dirty="0"/>
            </a:br>
            <a:endParaRPr lang="en-IN" dirty="0"/>
          </a:p>
        </p:txBody>
      </p:sp>
      <p:sp>
        <p:nvSpPr>
          <p:cNvPr id="7" name="AutoShape 8" descr="Uploaded image">
            <a:extLst>
              <a:ext uri="{FF2B5EF4-FFF2-40B4-BE49-F238E27FC236}">
                <a16:creationId xmlns:a16="http://schemas.microsoft.com/office/drawing/2014/main" id="{A8056AF0-0169-5088-D67D-C95481BC847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AutoShape 10" descr="Uploaded image">
            <a:extLst>
              <a:ext uri="{FF2B5EF4-FFF2-40B4-BE49-F238E27FC236}">
                <a16:creationId xmlns:a16="http://schemas.microsoft.com/office/drawing/2014/main" id="{18EF0764-6DCC-013C-1B21-C2506B31A08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206" name="Picture 14">
            <a:extLst>
              <a:ext uri="{FF2B5EF4-FFF2-40B4-BE49-F238E27FC236}">
                <a16:creationId xmlns:a16="http://schemas.microsoft.com/office/drawing/2014/main" id="{41CB1DB4-39B7-B08D-A60C-E251F731A0E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623" y="1323304"/>
            <a:ext cx="5112377" cy="4516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9775B59-9A14-7CEA-7279-05F970CC0924}"/>
              </a:ext>
            </a:extLst>
          </p:cNvPr>
          <p:cNvSpPr txBox="1"/>
          <p:nvPr/>
        </p:nvSpPr>
        <p:spPr>
          <a:xfrm>
            <a:off x="6487668" y="1922167"/>
            <a:ext cx="4636018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 aircraft delay is the major cause of delays across most airlines.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 system delays are high for some airlines, indicating congestion and traffic control issues.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Airline-related delays reflect internal operational inefficiencies.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and security delays have minimal impact compared to other delay types.</a:t>
            </a:r>
          </a:p>
        </p:txBody>
      </p:sp>
    </p:spTree>
    <p:extLst>
      <p:ext uri="{BB962C8B-B14F-4D97-AF65-F5344CB8AC3E}">
        <p14:creationId xmlns:p14="http://schemas.microsoft.com/office/powerpoint/2010/main" val="1131163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4BEEA-80B6-E58A-4E22-462AEA05D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137" y="539359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Cancellation Trends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E448D04-D806-2651-763F-40F570FB46E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7064" y="1035662"/>
            <a:ext cx="5152673" cy="4786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36BECBA-9961-B30D-7F8F-7829DDDFBB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7390" y="1664625"/>
            <a:ext cx="4223657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Flight cancellations are highest during winter months, especially February and January.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Severe weather conditions significantly contribute to increased cancellations.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Summer and early autumn months show relatively lower cancellation rates.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Seasonal patterns highlight the need for better contingency planning in peak-risk months.</a:t>
            </a:r>
          </a:p>
        </p:txBody>
      </p:sp>
    </p:spTree>
    <p:extLst>
      <p:ext uri="{BB962C8B-B14F-4D97-AF65-F5344CB8AC3E}">
        <p14:creationId xmlns:p14="http://schemas.microsoft.com/office/powerpoint/2010/main" val="31926584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6EBE3-385D-099B-B1EC-05E93257C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612" y="452211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Cancellation Reasons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E27D824-60B8-534F-4B63-F1401340303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3018" y="1690688"/>
            <a:ext cx="5385827" cy="4505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CEDC224-58EA-2E04-E71B-7FD6026D7159}"/>
              </a:ext>
            </a:extLst>
          </p:cNvPr>
          <p:cNvSpPr txBox="1"/>
          <p:nvPr/>
        </p:nvSpPr>
        <p:spPr>
          <a:xfrm>
            <a:off x="6883702" y="2337975"/>
            <a:ext cx="469392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conditions are the primary cause of flight cancellations.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Carrier-related operational issues contribute significantly to cancellations.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NAS (air traffic system) issues cause a moderate number of cancellations.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Security-related cancellations are minimal compared to other factors.</a:t>
            </a:r>
          </a:p>
        </p:txBody>
      </p:sp>
    </p:spTree>
    <p:extLst>
      <p:ext uri="{BB962C8B-B14F-4D97-AF65-F5344CB8AC3E}">
        <p14:creationId xmlns:p14="http://schemas.microsoft.com/office/powerpoint/2010/main" val="39128438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59630-0A2F-7A2F-92D4-36E88E021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05057"/>
            <a:ext cx="10515600" cy="1325563"/>
          </a:xfrm>
        </p:spPr>
        <p:txBody>
          <a:bodyPr/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Recommendations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0544D-7968-DEB7-49AD-EA8824BA3F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2897" y="1895294"/>
            <a:ext cx="8889275" cy="435133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aircraft turnaround planning to reduce late aircraft delays.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flight schedules on busy routes and peak hours to manage congestion.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 weather monitoring and contingency plans during high-risk months.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coordination with air traffic control to minimize air system delays.</a:t>
            </a:r>
          </a:p>
        </p:txBody>
      </p:sp>
    </p:spTree>
    <p:extLst>
      <p:ext uri="{BB962C8B-B14F-4D97-AF65-F5344CB8AC3E}">
        <p14:creationId xmlns:p14="http://schemas.microsoft.com/office/powerpoint/2010/main" val="31608533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A6107-B4E3-E9FC-072A-F21DE3A42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0628" y="72458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00E2B-841D-2FBB-8D88-3191DD5F8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9686" y="1964962"/>
            <a:ext cx="9106989" cy="435133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machine learning models to predict flight delays in advance.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real-time analysis using live flight and weather data.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analysis to include airport-wise and route-wise performance optimization.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interactive dashboard for airlines and passengers to monitor delays.</a:t>
            </a:r>
          </a:p>
        </p:txBody>
      </p:sp>
    </p:spTree>
    <p:extLst>
      <p:ext uri="{BB962C8B-B14F-4D97-AF65-F5344CB8AC3E}">
        <p14:creationId xmlns:p14="http://schemas.microsoft.com/office/powerpoint/2010/main" val="32978626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1028C-72B1-A839-1E5A-8C5F9B6E1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81746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AFE1E2-CF60-AFC2-BB9A-56557A8A8C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1194" y="9070383"/>
            <a:ext cx="10680846" cy="57356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dirty="0"/>
              <a:t> </a:t>
            </a:r>
            <a:endParaRPr lang="en-IN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192370C-E2E1-3A02-375D-182BB2D50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7361" y="2243567"/>
            <a:ext cx="5538651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Flight operations are concentrated among major airlines and busy routes.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Peak travel occurs during summer months, weekdays, and daytime hours.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Late aircraft, airline operations, and air system congestion are the primary delay causes.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Data-driven insights can help airlines reduce delays and improve operational efficiency.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0C9521-08B4-34CE-CC29-9BB3E4B715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31223" y="1974357"/>
            <a:ext cx="4519748" cy="3250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7089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220EF-3845-6A4E-753A-D9B1CA37C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9383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QUESTIONS?</a:t>
            </a:r>
            <a:endParaRPr lang="en-IN" sz="5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1499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A3130-619C-8C41-DD67-371CAE175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2629353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  <a:endParaRPr lang="en-IN" sz="5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02D369-8E6E-79E5-9421-3DB9CB470E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611087" y="748937"/>
            <a:ext cx="8882742" cy="5138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111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241</TotalTime>
  <Words>818</Words>
  <Application>Microsoft Office PowerPoint</Application>
  <PresentationFormat>Widescreen</PresentationFormat>
  <Paragraphs>79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Office Theme</vt:lpstr>
      <vt:lpstr>AirFly Insights: Data Visualization and Analysis of Airline Operations</vt:lpstr>
      <vt:lpstr>Project Overview</vt:lpstr>
      <vt:lpstr>Objectives</vt:lpstr>
      <vt:lpstr>Executive Summary</vt:lpstr>
      <vt:lpstr>PowerPoint Presentation</vt:lpstr>
      <vt:lpstr>Route Density Analysis</vt:lpstr>
      <vt:lpstr>Monthly Trends </vt:lpstr>
      <vt:lpstr>Weekly Flight Trends</vt:lpstr>
      <vt:lpstr>Hourly Trends</vt:lpstr>
      <vt:lpstr>Delay Cause Analysis</vt:lpstr>
      <vt:lpstr>Airline-wise Comparison of Delay Causes </vt:lpstr>
      <vt:lpstr>Cancellation Trends</vt:lpstr>
      <vt:lpstr>Cancellation Reasons</vt:lpstr>
      <vt:lpstr>Strategic Recommendations </vt:lpstr>
      <vt:lpstr>Future Scope</vt:lpstr>
      <vt:lpstr>Conclusion</vt:lpstr>
      <vt:lpstr>ANY QUESTIONS?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Buriki Roopitha</dc:creator>
  <cp:lastModifiedBy>Sanjana Erra</cp:lastModifiedBy>
  <cp:revision>6</cp:revision>
  <dcterms:created xsi:type="dcterms:W3CDTF">2026-01-04T17:16:23Z</dcterms:created>
  <dcterms:modified xsi:type="dcterms:W3CDTF">2026-01-06T14:52:57Z</dcterms:modified>
</cp:coreProperties>
</file>