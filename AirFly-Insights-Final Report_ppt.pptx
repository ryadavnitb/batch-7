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68" r:id="rId15"/>
  </p:sldIdLst>
  <p:sldSz cx="14630400" cy="8229600"/>
  <p:notesSz cx="8229600" cy="14630400"/>
  <p:embeddedFontLst>
    <p:embeddedFont>
      <p:font typeface="Kanit Light" panose="020B0604020202020204" charset="-34"/>
      <p:regular r:id="rId17"/>
    </p:embeddedFont>
    <p:embeddedFont>
      <p:font typeface="Martel San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64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atrickzel/flight-delay-and-cancellation-dataset-2019-2023/dat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71744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AirFly Insights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332958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Visualization and Analysis of Airline Operations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48036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Analyzing large-scale flight data to uncover trends, delays, and operational patterns for actionable insights.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20351" y="6039803"/>
            <a:ext cx="7216259" cy="1030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C3249"/>
                </a:solidFill>
                <a:latin typeface="Arial" panose="020B0604020202020204" pitchFamily="34" charset="0"/>
                <a:ea typeface="Martel Sans" pitchFamily="34" charset="-122"/>
                <a:cs typeface="Arial" panose="020B0604020202020204" pitchFamily="34" charset="0"/>
              </a:rPr>
              <a:t>Mentor: </a:t>
            </a:r>
            <a:r>
              <a:rPr lang="en-IN" dirty="0"/>
              <a:t>Rahul Yadav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Domain - Data Visualization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Submitted By – Sankeerthan Akula</a:t>
            </a:r>
            <a:endParaRPr lang="en-US" sz="1750" dirty="0">
              <a:solidFill>
                <a:srgbClr val="2C3249"/>
              </a:solidFill>
              <a:latin typeface="Arial" panose="020B0604020202020204" pitchFamily="34" charset="0"/>
              <a:ea typeface="Martel San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89" y="5784651"/>
            <a:ext cx="45719" cy="1608607"/>
          </a:xfrm>
          <a:prstGeom prst="rect">
            <a:avLst/>
          </a:prstGeom>
          <a:solidFill>
            <a:srgbClr val="43706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7725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Table of Contents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455896"/>
            <a:ext cx="110324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analysis follows a systematic process, from data acquisition to the final delivery of strategic insights for airline operations.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193429" y="832961"/>
            <a:ext cx="165068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93790" y="2155984"/>
            <a:ext cx="6341626" cy="923568"/>
          </a:xfrm>
          <a:prstGeom prst="roundRect">
            <a:avLst>
              <a:gd name="adj" fmla="val 67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8809" y="231100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Overview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48809" y="2688788"/>
            <a:ext cx="60315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Define objectives and scope.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3790" y="3226951"/>
            <a:ext cx="6341626" cy="923568"/>
          </a:xfrm>
          <a:prstGeom prst="roundRect">
            <a:avLst>
              <a:gd name="adj" fmla="val 67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809" y="338197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 &amp; Tech Stack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48809" y="3759756"/>
            <a:ext cx="60315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Source and tools selection.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3790" y="4297918"/>
            <a:ext cx="6341626" cy="923568"/>
          </a:xfrm>
          <a:prstGeom prst="roundRect">
            <a:avLst>
              <a:gd name="adj" fmla="val 67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8809" y="445293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Preprocessing &amp; EDA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48809" y="4830723"/>
            <a:ext cx="60315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Cleaning data and initial exploration.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3790" y="5368885"/>
            <a:ext cx="6341626" cy="923568"/>
          </a:xfrm>
          <a:prstGeom prst="roundRect">
            <a:avLst>
              <a:gd name="adj" fmla="val 67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809" y="552390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48809" y="5901690"/>
            <a:ext cx="60315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Creating relevant variables.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3790" y="6439852"/>
            <a:ext cx="6341626" cy="923568"/>
          </a:xfrm>
          <a:prstGeom prst="roundRect">
            <a:avLst>
              <a:gd name="adj" fmla="val 67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809" y="6594872"/>
            <a:ext cx="24904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Univariate &amp; Bivariate Analysis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48809" y="6972657"/>
            <a:ext cx="60315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Detailed statistical comparisons.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02604" y="2155984"/>
            <a:ext cx="6341626" cy="923568"/>
          </a:xfrm>
          <a:prstGeom prst="roundRect">
            <a:avLst>
              <a:gd name="adj" fmla="val 67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57624" y="231100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Delay Cause Analysis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657624" y="2688788"/>
            <a:ext cx="60315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Identifying root causes of delays.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02604" y="3226951"/>
            <a:ext cx="6341626" cy="923568"/>
          </a:xfrm>
          <a:prstGeom prst="roundRect">
            <a:avLst>
              <a:gd name="adj" fmla="val 67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7624" y="3381970"/>
            <a:ext cx="197727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Route &amp; Airport Analysis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657624" y="3759756"/>
            <a:ext cx="60315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Performance evaluation.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02604" y="4297918"/>
            <a:ext cx="6341626" cy="923568"/>
          </a:xfrm>
          <a:prstGeom prst="roundRect">
            <a:avLst>
              <a:gd name="adj" fmla="val 67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57624" y="445293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Seasonal Insights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657624" y="4830723"/>
            <a:ext cx="60315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Identifying temporal patterns.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02604" y="5368885"/>
            <a:ext cx="6341626" cy="923568"/>
          </a:xfrm>
          <a:prstGeom prst="roundRect">
            <a:avLst>
              <a:gd name="adj" fmla="val 67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7624" y="552390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Cancellation Insights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657624" y="5901690"/>
            <a:ext cx="60315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Understanding frequency and reasons.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02604" y="6439852"/>
            <a:ext cx="6341626" cy="923568"/>
          </a:xfrm>
          <a:prstGeom prst="roundRect">
            <a:avLst>
              <a:gd name="adj" fmla="val 67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57624" y="659487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657624" y="6972657"/>
            <a:ext cx="60315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Visual representation of airfly insights using PowerBI.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0782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52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Overview: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86416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482215"/>
            <a:ext cx="7556421" cy="1886188"/>
          </a:xfrm>
          <a:prstGeom prst="roundRect">
            <a:avLst>
              <a:gd name="adj" fmla="val 505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2716649"/>
            <a:ext cx="708755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Objective:</a:t>
            </a: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 analyze large-scale airline flight data to uncover operational trends, delay patterns, and cancellation reasons using data visualization techniques.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93790" y="4595217"/>
            <a:ext cx="7556421" cy="2819162"/>
          </a:xfrm>
          <a:prstGeom prst="roundRect">
            <a:avLst>
              <a:gd name="adj" fmla="val 337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8224" y="4829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Goals: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532007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•Understand and preprocess aviation datasets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8224" y="581906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•Explore flight, delay, and cancellation trends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28224" y="631805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•Visualize metrics using charts, heatmaps, and maps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28224" y="681704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•Deliver insights for airlines and airports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2599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Dataset: 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921306" y="1664375"/>
            <a:ext cx="22860" cy="4845606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</p:sp>
      <p:sp>
        <p:nvSpPr>
          <p:cNvPr id="4" name="Shape 2"/>
          <p:cNvSpPr/>
          <p:nvPr/>
        </p:nvSpPr>
        <p:spPr>
          <a:xfrm>
            <a:off x="898446" y="2820114"/>
            <a:ext cx="510302" cy="22860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857548" y="2767786"/>
            <a:ext cx="127516" cy="127516"/>
          </a:xfrm>
          <a:prstGeom prst="roundRect">
            <a:avLst>
              <a:gd name="adj" fmla="val 358543"/>
            </a:avLst>
          </a:prstGeom>
          <a:solidFill>
            <a:srgbClr val="437066"/>
          </a:solidFill>
          <a:ln/>
        </p:spPr>
      </p:sp>
      <p:sp>
        <p:nvSpPr>
          <p:cNvPr id="6" name="Shape 4"/>
          <p:cNvSpPr/>
          <p:nvPr/>
        </p:nvSpPr>
        <p:spPr>
          <a:xfrm>
            <a:off x="1431727" y="1664375"/>
            <a:ext cx="12404884" cy="2334458"/>
          </a:xfrm>
          <a:prstGeom prst="roundRect">
            <a:avLst>
              <a:gd name="adj" fmla="val 306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9368" y="1842016"/>
            <a:ext cx="5938957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Flight Delay and Cancellation Dataset (2019-2023)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9368" y="2547699"/>
            <a:ext cx="12049601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 dataset containing detailed records of flight delays and cancellations from 2019 to 2023, including flight schedules, delay durations, and reasons for disruptions.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09368" y="3181231"/>
            <a:ext cx="1204960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9368" y="3555444"/>
            <a:ext cx="499812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</a:t>
            </a:r>
            <a:r>
              <a:rPr lang="en-US" sz="1650" u="sng" dirty="0">
                <a:solidFill>
                  <a:srgbClr val="43706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Flight Delay and Cancellation Dataset (2019-2023)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98446" y="5413058"/>
            <a:ext cx="510302" cy="22860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548" y="5360730"/>
            <a:ext cx="127516" cy="127516"/>
          </a:xfrm>
          <a:prstGeom prst="roundRect">
            <a:avLst>
              <a:gd name="adj" fmla="val 358543"/>
            </a:avLst>
          </a:prstGeom>
          <a:solidFill>
            <a:srgbClr val="437066"/>
          </a:solidFill>
          <a:ln/>
        </p:spPr>
      </p:sp>
      <p:sp>
        <p:nvSpPr>
          <p:cNvPr id="13" name="Shape 11"/>
          <p:cNvSpPr/>
          <p:nvPr/>
        </p:nvSpPr>
        <p:spPr>
          <a:xfrm>
            <a:off x="1431727" y="4338995"/>
            <a:ext cx="12404884" cy="2170986"/>
          </a:xfrm>
          <a:prstGeom prst="roundRect">
            <a:avLst>
              <a:gd name="adj" fmla="val 329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9368" y="451663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Reasons: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9368" y="4937522"/>
            <a:ext cx="1204960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• Includes detailed flight, delay, and cancellation records across multiple airlines for accurate delay prediction.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9368" y="5311735"/>
            <a:ext cx="1204960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• Contains 8500+ entries, providing ample data for reliable machine learning model training.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9368" y="5685949"/>
            <a:ext cx="1204960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• Covers flight schedules, durations, and disruption reasons, enabling comprehensive operational analysis.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9368" y="6060162"/>
            <a:ext cx="1204960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• Mimics real-world aviation scenarios, offering valuable insights for improving airline efficiency and passenger experience.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3790" y="6701314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3790" y="7164824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42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Technology Stack: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232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robust set of technologies was selected to efficiently process, analyze, and visualize the large volume of flight data.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41270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995618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Core language for data manipulation, cleaning, and model development.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541270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Pandas &amp; NumPy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3995618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Essential libraries for high-performance data structuring and numerical operations.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175052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138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Visualization Libraries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62940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Matplotlib, Seaborn, or Plotly for creating static and interactive data plots.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5175052"/>
            <a:ext cx="680442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138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Power BI &amp; Jupyter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62940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Power BI for interactive dashboards and Jupyter notebooks for iterative analysis and documentation.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779502"/>
            <a:ext cx="6873359" cy="49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Preprocessing &amp; Cleaning Strategy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0932" y="1431965"/>
            <a:ext cx="7003018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Ensuring data quality is the critical first step. This involved several key actions to prepare the raw data for robust analysis.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32" y="2116098"/>
            <a:ext cx="158115" cy="1976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32" y="2361962"/>
            <a:ext cx="7003018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6" name="Text 3"/>
          <p:cNvSpPr/>
          <p:nvPr/>
        </p:nvSpPr>
        <p:spPr>
          <a:xfrm>
            <a:off x="790932" y="2486739"/>
            <a:ext cx="2808208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Loading &amp; Date Conversion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0932" y="2892028"/>
            <a:ext cx="7003018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Loaded dataset using pd.read_csv() and converted FL_DATE column to datetime format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32" y="3421856"/>
            <a:ext cx="158115" cy="1976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90932" y="3667720"/>
            <a:ext cx="7003018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0" name="Text 6"/>
          <p:cNvSpPr/>
          <p:nvPr/>
        </p:nvSpPr>
        <p:spPr>
          <a:xfrm>
            <a:off x="790932" y="3792498"/>
            <a:ext cx="1977390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Extraction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90932" y="4197787"/>
            <a:ext cx="7003018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Extracted new temporal features: Year, Month, Day, DayOfWeek from date columns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32" y="4727615"/>
            <a:ext cx="158115" cy="1976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90932" y="4973479"/>
            <a:ext cx="7003018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4" name="Text 9"/>
          <p:cNvSpPr/>
          <p:nvPr/>
        </p:nvSpPr>
        <p:spPr>
          <a:xfrm>
            <a:off x="790932" y="5098256"/>
            <a:ext cx="2072878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Time Format Processing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90932" y="5503545"/>
            <a:ext cx="7003018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Converted scheduled and actual times (HHMM format) into readable hours and minutes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32" y="6033373"/>
            <a:ext cx="158115" cy="1976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90932" y="6279237"/>
            <a:ext cx="7003018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8" name="Text 12"/>
          <p:cNvSpPr/>
          <p:nvPr/>
        </p:nvSpPr>
        <p:spPr>
          <a:xfrm>
            <a:off x="790932" y="6404015"/>
            <a:ext cx="1977390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Delay Aggregation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90932" y="6809303"/>
            <a:ext cx="7003018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Created TotalDelay column as sum of all delay types (CARRIER + WEATHER + NAS + SECURITY + LATE_AIRCRAFT) and dropped redundant columns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7332" y="799266"/>
            <a:ext cx="5652136" cy="6516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2249"/>
            <a:ext cx="7550110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Exploratory Data Analysis (EDA)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956554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Initial analysis provided foundational understanding of the data distribution, volume, and basic operational characteristics.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759154"/>
            <a:ext cx="295560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Quality Assessment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93790" y="3311128"/>
            <a:ext cx="625852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Displayed dataset info and data types using .info()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3731300"/>
            <a:ext cx="625852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Checked for missing values and duplicates in the dataset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3790" y="4151471"/>
            <a:ext cx="625852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Computed summary statistics using describe() function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93790" y="471166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Initial Visualizations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93790" y="5263634"/>
            <a:ext cx="625852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Distribution of departure and arrival delays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93790" y="5683806"/>
            <a:ext cx="625852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Count of flights per carrier and per month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93790" y="6103977"/>
            <a:ext cx="625852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Weekly flight frequency and average delay trends</a:t>
            </a:r>
            <a:endParaRPr lang="en-US" sz="16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227" y="2786182"/>
            <a:ext cx="4775338" cy="36033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585710" y="6631900"/>
            <a:ext cx="6258520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Visualizing the initial data distributions helps confirm expectations and highlight areas requiring deeper feature engineering.</a:t>
            </a:r>
            <a:endParaRPr lang="en-US" sz="13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A408E9-3C4D-394A-3BAE-B163B5F3E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2582807"/>
            <a:ext cx="6653299" cy="39817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15089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Engineering: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1606748"/>
            <a:ext cx="75564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 created new, meaningful features from the raw data to capture complex operational factors affecting flight performance.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93790" y="2440305"/>
            <a:ext cx="22860" cy="5074087"/>
          </a:xfrm>
          <a:prstGeom prst="roundRect">
            <a:avLst>
              <a:gd name="adj" fmla="val 354232"/>
            </a:avLst>
          </a:prstGeom>
          <a:solidFill>
            <a:srgbClr val="C5D2CF"/>
          </a:solidFill>
          <a:ln/>
        </p:spPr>
      </p:sp>
      <p:sp>
        <p:nvSpPr>
          <p:cNvPr id="6" name="Shape 3"/>
          <p:cNvSpPr/>
          <p:nvPr/>
        </p:nvSpPr>
        <p:spPr>
          <a:xfrm>
            <a:off x="816650" y="2440305"/>
            <a:ext cx="7556421" cy="1434346"/>
          </a:xfrm>
          <a:prstGeom prst="rect">
            <a:avLst/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9412" y="264068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Temporal Features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09412" y="3057525"/>
            <a:ext cx="716327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Extraction of </a:t>
            </a: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Hour of Day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Day of Week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and </a:t>
            </a: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Month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 model time-dependent patterns in delays.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16650" y="4260175"/>
            <a:ext cx="7556421" cy="1434346"/>
          </a:xfrm>
          <a:prstGeom prst="rect">
            <a:avLst/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9412" y="4460558"/>
            <a:ext cx="278951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Load and Capacity Metrics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09412" y="4877395"/>
            <a:ext cx="716327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Calculating rolling averages of flight frequency and delay severity for each carrier and airport (e.g., </a:t>
            </a: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Delay Last 7 Days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).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16650" y="6080046"/>
            <a:ext cx="7556421" cy="1434346"/>
          </a:xfrm>
          <a:prstGeom prst="rect">
            <a:avLst/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9412" y="6280428"/>
            <a:ext cx="312884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Route and Segment Variables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009412" y="6697266"/>
            <a:ext cx="716327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Creating a unique </a:t>
            </a: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Route Identifier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(Origin-Destination pair) to analyze route-specific performance bottlenecks.</a:t>
            </a:r>
            <a:endParaRPr lang="en-US" sz="1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C0D353-A8B0-2F8E-5F10-CD2C8CC07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992" y="1606748"/>
            <a:ext cx="5653088" cy="57915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876" y="676394"/>
            <a:ext cx="4530090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Univariate &amp; Bivariate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21876" y="1363385"/>
            <a:ext cx="13186648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Detailed statistical examination of individual variables and their relationships to uncover patterns in flight operations.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21876" y="1862614"/>
            <a:ext cx="20109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Univariate Analysis: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21876" y="2248019"/>
            <a:ext cx="6429851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Flight delay distribution shows heavy right skew with most flights having minimal delays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21876" y="2509361"/>
            <a:ext cx="6429851" cy="428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Carrier performance varies significantly with some airlines showing consistently higher delay rates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1876" y="2985135"/>
            <a:ext cx="6429851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Airport traffic volume analysis reveals clear hub-and-spoke patterns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1876" y="3246477"/>
            <a:ext cx="6429851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Temporal patterns show peak delay times during morning and evening rush hours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86293" y="1862614"/>
            <a:ext cx="20109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Bivariate Analysis: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86293" y="2248019"/>
            <a:ext cx="6429851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Strong correlation between flight distance and average delay duration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86293" y="2509361"/>
            <a:ext cx="6429851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Day of week significantly impacts on-time performance with Fridays showing highest delays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86293" y="2770703"/>
            <a:ext cx="6429851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Airport size correlates with delay frequency but not necessarily delay duration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86293" y="3032046"/>
            <a:ext cx="6429851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Weather conditions show predictable relationships with cancellation rates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1876" y="3792617"/>
            <a:ext cx="2144911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Flight Delay Distribution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21876" y="7003733"/>
            <a:ext cx="6429851" cy="428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bar chart above illustrates that the majority of flights experience minimal delays (0-50 minutes), with a steep decline in frequency as delay durations increase, indicating a right skewed distribution.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86293" y="3792617"/>
            <a:ext cx="2681645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Average Delay by Day of Week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486293" y="6685836"/>
            <a:ext cx="6429851" cy="64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chart illustrates the average flight delay duration across different days of the week, clearly showing that Fridays experience the highest average delays, highlighting a significant temporal pattern.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AC1A7F-B7CD-B52F-3962-A283853B3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293" y="4185643"/>
            <a:ext cx="6032280" cy="24229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B9F43C4-5A33-5AD3-3F58-128BD04A8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27" y="4114800"/>
            <a:ext cx="6125799" cy="27514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2115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Delay Cause Analysis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45788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Understanding the primary drivers of flight disruptions through comprehensive data analysis.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2157055"/>
            <a:ext cx="3755946" cy="2034183"/>
          </a:xfrm>
          <a:prstGeom prst="roundRect">
            <a:avLst>
              <a:gd name="adj" fmla="val 5394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157055"/>
            <a:ext cx="91440" cy="2034183"/>
          </a:xfrm>
          <a:prstGeom prst="roundRect">
            <a:avLst>
              <a:gd name="adj" fmla="val 72930"/>
            </a:avLst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1043940" y="233862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Carrier Delays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43940" y="2745343"/>
            <a:ext cx="332422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Carrier delays (internal airline issues) are the most significant factor, accounting for the largest portion of total delay minutes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8446" y="2157055"/>
            <a:ext cx="3756065" cy="2034183"/>
          </a:xfrm>
          <a:prstGeom prst="roundRect">
            <a:avLst>
              <a:gd name="adj" fmla="val 5394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85586" y="2157055"/>
            <a:ext cx="91440" cy="2034183"/>
          </a:xfrm>
          <a:prstGeom prst="roundRect">
            <a:avLst>
              <a:gd name="adj" fmla="val 72930"/>
            </a:avLst>
          </a:prstGeom>
          <a:solidFill>
            <a:srgbClr val="437066"/>
          </a:solidFill>
          <a:ln/>
        </p:spPr>
      </p:sp>
      <p:sp>
        <p:nvSpPr>
          <p:cNvPr id="10" name="Text 8"/>
          <p:cNvSpPr/>
          <p:nvPr/>
        </p:nvSpPr>
        <p:spPr>
          <a:xfrm>
            <a:off x="4958596" y="2338626"/>
            <a:ext cx="3324344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National Aviation System (NAS) Delays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958596" y="2993350"/>
            <a:ext cx="3324344" cy="1016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National Aviation System (NAS) delays follow as the second major cause, related to air traffic control and airport capacity constraints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3790" y="4349948"/>
            <a:ext cx="3755946" cy="1532096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0930" y="4349948"/>
            <a:ext cx="91440" cy="1532096"/>
          </a:xfrm>
          <a:prstGeom prst="roundRect">
            <a:avLst>
              <a:gd name="adj" fmla="val 72930"/>
            </a:avLst>
          </a:prstGeom>
          <a:solidFill>
            <a:srgbClr val="437066"/>
          </a:solidFill>
          <a:ln/>
        </p:spPr>
      </p:sp>
      <p:sp>
        <p:nvSpPr>
          <p:cNvPr id="14" name="Text 12"/>
          <p:cNvSpPr/>
          <p:nvPr/>
        </p:nvSpPr>
        <p:spPr>
          <a:xfrm>
            <a:off x="1043940" y="4531519"/>
            <a:ext cx="21171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Weather-Related Delays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43940" y="4938236"/>
            <a:ext cx="332422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Weather-related delays represent a substantial but seasonal factor in flight disruptions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8446" y="4349948"/>
            <a:ext cx="3756065" cy="1532096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5586" y="4349948"/>
            <a:ext cx="91440" cy="1532096"/>
          </a:xfrm>
          <a:prstGeom prst="roundRect">
            <a:avLst>
              <a:gd name="adj" fmla="val 72930"/>
            </a:avLst>
          </a:prstGeom>
          <a:solidFill>
            <a:srgbClr val="437066"/>
          </a:solidFill>
          <a:ln/>
        </p:spPr>
      </p:sp>
      <p:sp>
        <p:nvSpPr>
          <p:cNvPr id="18" name="Text 16"/>
          <p:cNvSpPr/>
          <p:nvPr/>
        </p:nvSpPr>
        <p:spPr>
          <a:xfrm>
            <a:off x="4958596" y="4531519"/>
            <a:ext cx="211193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Security-Related Delays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958596" y="4938236"/>
            <a:ext cx="3324344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Security-related delays are consistently the smallest cause but often result in the longest individual delay durations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3790" y="6040755"/>
            <a:ext cx="3755946" cy="1278017"/>
          </a:xfrm>
          <a:prstGeom prst="roundRect">
            <a:avLst>
              <a:gd name="adj" fmla="val 8586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930" y="6040755"/>
            <a:ext cx="91440" cy="1278017"/>
          </a:xfrm>
          <a:prstGeom prst="roundRect">
            <a:avLst>
              <a:gd name="adj" fmla="val 72930"/>
            </a:avLst>
          </a:prstGeom>
          <a:solidFill>
            <a:srgbClr val="437066"/>
          </a:solidFill>
          <a:ln/>
        </p:spPr>
      </p:sp>
      <p:sp>
        <p:nvSpPr>
          <p:cNvPr id="22" name="Text 20"/>
          <p:cNvSpPr/>
          <p:nvPr/>
        </p:nvSpPr>
        <p:spPr>
          <a:xfrm>
            <a:off x="1043940" y="622232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Late Aircraft Delays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43940" y="6629043"/>
            <a:ext cx="332422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Late aircraft delays create cascading effects throughout the day's flight schedule</a:t>
            </a:r>
            <a:endParaRPr lang="en-US" sz="12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19224D6-6B5A-3725-5E62-6F519DAF2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009" y="1545788"/>
            <a:ext cx="5363786" cy="542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150" y="495895"/>
            <a:ext cx="314551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Route &amp; Airport Analysis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31150" y="1096685"/>
            <a:ext cx="13368099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Evaluating performance patterns across different routes and airports to identify operational bottlenecks and efficiency opportunities.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1150" y="1533287"/>
            <a:ext cx="1758434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High-Traffic Routes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1150" y="1870234"/>
            <a:ext cx="6541056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Major hub-to-hub routes (e.g., LAX-JFK, ORD-ATL) show higher delay frequencies due to congestion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1150" y="2098834"/>
            <a:ext cx="6541056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Transcontinental routes experience longer average delays compared to regional flights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1150" y="2327434"/>
            <a:ext cx="6541056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Popular vacation destinations show seasonal delay spikes during peak travel periods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65814" y="1533287"/>
            <a:ext cx="1758434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Airport Performance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65814" y="1799868"/>
            <a:ext cx="6541056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Large hub airports (ATL, ORD, DFW) handle high volumes but maintain relatively efficient operations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65814" y="2356604"/>
            <a:ext cx="6541056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Weather-sensitive airports (Northeast, Great Lakes region) show higher cancellation rates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65814" y="2585204"/>
            <a:ext cx="6541056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Smaller regional airports often have better on-time performance but limited recovery options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089821" y="4933831"/>
            <a:ext cx="1425535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9686102" y="6316276"/>
            <a:ext cx="117157" cy="117158"/>
          </a:xfrm>
          <a:prstGeom prst="roundRect">
            <a:avLst>
              <a:gd name="adj" fmla="val 15610"/>
            </a:avLst>
          </a:prstGeom>
          <a:solidFill>
            <a:srgbClr val="3E685E"/>
          </a:solidFill>
          <a:ln/>
        </p:spPr>
      </p:sp>
      <p:sp>
        <p:nvSpPr>
          <p:cNvPr id="17" name="Text 13"/>
          <p:cNvSpPr/>
          <p:nvPr/>
        </p:nvSpPr>
        <p:spPr>
          <a:xfrm>
            <a:off x="9845873" y="6334125"/>
            <a:ext cx="1194673" cy="357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Cancellation Rate (%)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31150" y="7206020"/>
            <a:ext cx="1543050" cy="18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Route Efficiency Metrics</a:t>
            </a:r>
            <a:endParaRPr lang="en-US" sz="1150" b="1" dirty="0"/>
          </a:p>
        </p:txBody>
      </p:sp>
      <p:sp>
        <p:nvSpPr>
          <p:cNvPr id="19" name="Text 15"/>
          <p:cNvSpPr/>
          <p:nvPr/>
        </p:nvSpPr>
        <p:spPr>
          <a:xfrm>
            <a:off x="631150" y="7564874"/>
            <a:ext cx="13368099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Short-haul routes (under 500 miles) have lowest delay variability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31150" y="7793474"/>
            <a:ext cx="13368099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International gateway airports show distinct delay patterns based on customs and immigration processing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31150" y="8022074"/>
            <a:ext cx="13368099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450"/>
              </a:lnSpc>
              <a:buSzPct val="100000"/>
            </a:pP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B35FB3E-CB94-64DD-B078-5A463303C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50" y="2690813"/>
            <a:ext cx="5561831" cy="42866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A8DE84-B8F6-D021-5E8E-714F43B49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791" y="3013865"/>
            <a:ext cx="5434444" cy="31791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C6F28B-13DB-863E-7443-8DE0948E3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84" y="1632393"/>
            <a:ext cx="4563589" cy="47452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ACCB9C-57E6-DF3C-1925-10B653D550A4}"/>
              </a:ext>
            </a:extLst>
          </p:cNvPr>
          <p:cNvSpPr txBox="1"/>
          <p:nvPr/>
        </p:nvSpPr>
        <p:spPr>
          <a:xfrm>
            <a:off x="5620214" y="1278450"/>
            <a:ext cx="456358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23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Flight Cancellation Insights</a:t>
            </a:r>
            <a:endParaRPr lang="en-US" sz="23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52E4C-0D70-F520-43BA-F3155DBAAACA}"/>
              </a:ext>
            </a:extLst>
          </p:cNvPr>
          <p:cNvSpPr txBox="1"/>
          <p:nvPr/>
        </p:nvSpPr>
        <p:spPr>
          <a:xfrm>
            <a:off x="5879434" y="2548694"/>
            <a:ext cx="7315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Cancellation Reasons:</a:t>
            </a:r>
          </a:p>
          <a:p>
            <a:r>
              <a:rPr lang="en-US" dirty="0"/>
              <a:t>     Carrier: (52.8%) flights</a:t>
            </a:r>
          </a:p>
          <a:p>
            <a:r>
              <a:rPr lang="en-US" dirty="0"/>
              <a:t>     NAS: (20.3%) flights </a:t>
            </a:r>
          </a:p>
          <a:p>
            <a:r>
              <a:rPr lang="en-US" dirty="0"/>
              <a:t>     Late Aircraft: (18.6%) flights</a:t>
            </a:r>
          </a:p>
          <a:p>
            <a:r>
              <a:rPr lang="en-US" dirty="0"/>
              <a:t>     Weather: (8.2%) flights </a:t>
            </a:r>
          </a:p>
          <a:p>
            <a:r>
              <a:rPr lang="en-US" dirty="0"/>
              <a:t>     Security: (0.0%) flights </a:t>
            </a:r>
          </a:p>
          <a:p>
            <a:r>
              <a:rPr lang="en-US" dirty="0"/>
              <a:t>     No Delay: (0.0%) flights 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DA950A-692B-F94A-8360-602D1B9D4517}"/>
              </a:ext>
            </a:extLst>
          </p:cNvPr>
          <p:cNvSpPr txBox="1"/>
          <p:nvPr/>
        </p:nvSpPr>
        <p:spPr>
          <a:xfrm>
            <a:off x="5620214" y="1902363"/>
            <a:ext cx="7426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majority of flight cancellations are caused by Carrier, making it the biggest disruption factor. Here’s the breakdown: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4E7C84-112B-0166-EB1E-E06B24AED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273" y="5684173"/>
            <a:ext cx="2972058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25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7AEBEE-D828-DB62-0CC4-9F39CBD3B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9" y="1248937"/>
            <a:ext cx="6913757" cy="57317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F67AB6-FFAD-7FAA-1D53-49D80F4F83E0}"/>
              </a:ext>
            </a:extLst>
          </p:cNvPr>
          <p:cNvSpPr txBox="1"/>
          <p:nvPr/>
        </p:nvSpPr>
        <p:spPr>
          <a:xfrm>
            <a:off x="780586" y="1102743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300" b="1" dirty="0">
                <a:latin typeface="Arial" panose="020B0604020202020204" pitchFamily="34" charset="0"/>
                <a:cs typeface="Arial" panose="020B0604020202020204" pitchFamily="34" charset="0"/>
              </a:rPr>
              <a:t>Seasonal</a:t>
            </a:r>
            <a:r>
              <a:rPr lang="en-IN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300" b="1" dirty="0"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9AF95D-D429-CF70-FB89-42349227DD49}"/>
              </a:ext>
            </a:extLst>
          </p:cNvPr>
          <p:cNvSpPr txBox="1"/>
          <p:nvPr/>
        </p:nvSpPr>
        <p:spPr>
          <a:xfrm>
            <a:off x="780586" y="1795053"/>
            <a:ext cx="57428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Cancellations peak in Spring and Winter due to weather and operational challenges, while Summer and Fall show the lowest rates, indicating more stable travel conditions.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AF5B1D-2DD1-8017-505C-ACB3B12DB86F}"/>
              </a:ext>
            </a:extLst>
          </p:cNvPr>
          <p:cNvSpPr txBox="1"/>
          <p:nvPr/>
        </p:nvSpPr>
        <p:spPr>
          <a:xfrm>
            <a:off x="970156" y="3433675"/>
            <a:ext cx="60328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Spring has the highest cancellations – weather volatility.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Winter is second – cold conditions &amp; delays.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 Summer is lower – stable weather improves operations.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 Fall has the least cancellations – best time for consistent travel.</a:t>
            </a:r>
          </a:p>
        </p:txBody>
      </p:sp>
    </p:spTree>
    <p:extLst>
      <p:ext uri="{BB962C8B-B14F-4D97-AF65-F5344CB8AC3E}">
        <p14:creationId xmlns:p14="http://schemas.microsoft.com/office/powerpoint/2010/main" val="2963933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405902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            Thank You!</a:t>
            </a:r>
            <a:endParaRPr lang="en-US" sz="8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1290</Words>
  <Application>Microsoft Office PowerPoint</Application>
  <PresentationFormat>Custom</PresentationFormat>
  <Paragraphs>156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Kanit Light</vt:lpstr>
      <vt:lpstr>Martel Sans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Bhagyalakshmi Siddavatam</dc:creator>
  <cp:lastModifiedBy>Sankeerthan Akula</cp:lastModifiedBy>
  <cp:revision>4</cp:revision>
  <dcterms:created xsi:type="dcterms:W3CDTF">2025-10-12T15:55:01Z</dcterms:created>
  <dcterms:modified xsi:type="dcterms:W3CDTF">2025-12-30T14:03:58Z</dcterms:modified>
</cp:coreProperties>
</file>